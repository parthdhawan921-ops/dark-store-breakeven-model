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8bcdc4-f5b7-d357-fd7c-c46d2c156b3d}">
          <p14:sldIdLst>
            <p14:sldId id="256"/>
          </p14:sldIdLst>
        </p14:section>
        <p14:section name="Answer" id="{405a3dae-b74c-c83c-d05c-a6b2d5ab9019}">
          <p14:sldIdLst>
            <p14:sldId id="257"/>
          </p14:sldIdLst>
        </p14:section>
        <p14:section name="Approach" id="{a6edaa52-c185-d5ed-5bc5-9c3bddb34d40}">
          <p14:sldIdLst>
            <p14:sldId id="258"/>
          </p14:sldIdLst>
        </p14:section>
        <p14:section name="Findings" id="{a0fd2ed4-3c5c-46ca-e174-03f602954f04}">
          <p14:sldIdLst>
            <p14:sldId id="259"/>
            <p14:sldId id="260"/>
            <p14:sldId id="261"/>
          </p14:sldIdLst>
        </p14:section>
        <p14:section name="Options" id="{72e08dad-fd3a-48b5-e339-f51120f20289}">
          <p14:sldIdLst>
            <p14:sldId id="262"/>
            <p14:sldId id="263"/>
          </p14:sldIdLst>
        </p14:section>
        <p14:section name="Next steps" id="{5ba0da3b-a590-7399-e236-49c128c4d2b9}">
          <p14:sldIdLst>
            <p14:sldId id="264"/>
          </p14:sldIdLst>
        </p14:section>
        <p14:section name="Close" id="{5c58cf68-6237-8dfb-36d3-63d219be9eb9}">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Revenue</c:v>
                </c:pt>
              </c:strCache>
            </c:strRef>
          </c:tx>
          <c:spPr>
            <a:solidFill>
              <a:srgbClr val="1E8A5A"/>
            </a:solidFill>
            <a:effectLst/>
          </c:spPr>
          <c:invertIfNegative val="0"/>
          <c:dLbls>
            <c:numFmt formatCode="₹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Revenue</c:v>
                  </c:pt>
                  <c:pt idx="1">
                    <c:v>Cost</c:v>
                  </c:pt>
                </c:lvl>
              </c:multiLvlStrCache>
            </c:multiLvlStrRef>
          </c:cat>
          <c:val>
            <c:numRef>
              <c:f>Sheet1!$B$2:$B$3</c:f>
              <c:numCache>
                <c:formatCode>General</c:formatCode>
                <c:ptCount val="2"/>
                <c:pt idx="0">
                  <c:v>108</c:v>
                </c:pt>
                <c:pt idx="1">
                  <c:v>0</c:v>
                </c:pt>
              </c:numCache>
            </c:numRef>
          </c:val>
        </c:ser>
        <c:ser>
          <c:idx val="1"/>
          <c:order val="1"/>
          <c:tx>
            <c:strRef>
              <c:f>Sheet1!$C$1</c:f>
              <c:strCache>
                <c:ptCount val="1"/>
                <c:pt idx="0">
                  <c:v>Variable cost</c:v>
                </c:pt>
              </c:strCache>
            </c:strRef>
          </c:tx>
          <c:spPr>
            <a:solidFill>
              <a:srgbClr val="E3A21A"/>
            </a:solidFill>
            <a:effectLst/>
          </c:spPr>
          <c:invertIfNegative val="0"/>
          <c:dLbls>
            <c:numFmt formatCode="₹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Revenue</c:v>
                  </c:pt>
                  <c:pt idx="1">
                    <c:v>Cost</c:v>
                  </c:pt>
                </c:lvl>
              </c:multiLvlStrCache>
            </c:multiLvlStrRef>
          </c:cat>
          <c:val>
            <c:numRef>
              <c:f>Sheet1!$C$2:$C$3</c:f>
              <c:numCache>
                <c:formatCode>General</c:formatCode>
                <c:ptCount val="2"/>
                <c:pt idx="0">
                  <c:v>0</c:v>
                </c:pt>
                <c:pt idx="1">
                  <c:v>82.58</c:v>
                </c:pt>
              </c:numCache>
            </c:numRef>
          </c:val>
        </c:ser>
        <c:ser>
          <c:idx val="2"/>
          <c:order val="2"/>
          <c:tx>
            <c:strRef>
              <c:f>Sheet1!$D$1</c:f>
              <c:strCache>
                <c:ptCount val="1"/>
                <c:pt idx="0">
                  <c:v>Fixed cost</c:v>
                </c:pt>
              </c:strCache>
            </c:strRef>
          </c:tx>
          <c:spPr>
            <a:solidFill>
              <a:srgbClr val="C2412D"/>
            </a:solidFill>
            <a:effectLst/>
          </c:spPr>
          <c:invertIfNegative val="0"/>
          <c:dLbls>
            <c:numFmt formatCode="₹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Revenue</c:v>
                  </c:pt>
                  <c:pt idx="1">
                    <c:v>Cost</c:v>
                  </c:pt>
                </c:lvl>
              </c:multiLvlStrCache>
            </c:multiLvlStrRef>
          </c:cat>
          <c:val>
            <c:numRef>
              <c:f>Sheet1!$D$2:$D$3</c:f>
              <c:numCache>
                <c:formatCode>General</c:formatCode>
                <c:ptCount val="2"/>
                <c:pt idx="0">
                  <c:v>0</c:v>
                </c:pt>
                <c:pt idx="1">
                  <c:v>26.8</c:v>
                </c:pt>
              </c:numCache>
            </c:numRef>
          </c:val>
        </c:ser>
        <c:dLbls>
          <c:numFmt formatCode="₹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272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23"/>
                </a:solidFill>
                <a:latin typeface="+mn-lt"/>
              </a:defRPr>
            </a:pPr>
            <a:r>
              <a:rPr sz="1300" b="0" i="0" u="none" strike="noStrike">
                <a:solidFill>
                  <a:srgbClr val="1C2723"/>
                </a:solidFill>
                <a:latin typeface="+mn-lt"/>
              </a:rPr>
              <a:t>Profit per store per day (₹) by orders per day</a:t>
            </a:r>
          </a:p>
        </c:rich>
      </c:tx>
      <c:layout/>
      <c:overlay val="0"/>
    </c:title>
    <c:autoTitleDeleted val="0"/>
    <c:plotArea>
      <c:layout/>
      <c:lineChart>
        <c:varyColors val="0"/>
        <c:ser>
          <c:idx val="0"/>
          <c:order val="0"/>
          <c:tx>
            <c:strRef>
              <c:f>Sheet1!$B$1</c:f>
              <c:strCache>
                <c:ptCount val="1"/>
                <c:pt idx="0">
                  <c:v>Profit per store per day</c:v>
                </c:pt>
              </c:strCache>
            </c:strRef>
          </c:tx>
          <c:spPr>
            <a:solidFill>
              <a:srgbClr val="1E8A5A"/>
            </a:solidFill>
            <a:ln w="38100" cap="flat">
              <a:solidFill>
                <a:srgbClr val="1E8A5A"/>
              </a:solidFill>
              <a:prstDash val="solid"/>
              <a:round/>
            </a:ln>
            <a:effectLst/>
          </c:spPr>
          <c:invertIfNegative val="0"/>
          <c:dLbls>
            <c:numFmt formatCode="#,##0" sourceLinked="0"/>
            <c:txPr>
              <a:bodyPr/>
              <a:lstStyle/>
              <a:p>
                <a:pPr>
                  <a:defRPr b="1" i="0" strike="noStrike" sz="1200" u="none">
                    <a:solidFill>
                      <a:srgbClr val="1C2723"/>
                    </a:solidFill>
                    <a:latin typeface="+mn-lt"/>
                  </a:defRPr>
                </a:pPr>
              </a:p>
            </c:txPr>
            <c:showLegendKey val="0"/>
            <c:showVal val="0"/>
            <c:showCatName val="0"/>
            <c:showSerName val="0"/>
            <c:showPercent val="0"/>
            <c:showBubbleSize val="0"/>
            <c:showLeaderLines val="0"/>
          </c:dLbls>
          <c:marker>
            <c:symbol val="circle"/>
            <c:size val="6"/>
            <c:spPr>
              <a:solidFill>
                <a:srgbClr val="1E8A5A"/>
              </a:solidFill>
              <a:ln w="9525" cap="flat">
                <a:solidFill>
                  <a:srgbClr val="1E8A5A"/>
                </a:solidFill>
                <a:prstDash val="solid"/>
                <a:round/>
              </a:ln>
              <a:effectLst/>
            </c:spPr>
          </c:marker>
          <c:cat>
            <c:multiLvlStrRef>
              <c:f>Sheet1!$A$2:$A$15</c:f>
              <c:multiLvlStrCache>
                <c:ptCount val="14"/>
                <c:lvl>
                  <c:pt idx="0">
                    <c:v>200</c:v>
                  </c:pt>
                  <c:pt idx="1">
                    <c:v>400</c:v>
                  </c:pt>
                  <c:pt idx="2">
                    <c:v>600</c:v>
                  </c:pt>
                  <c:pt idx="3">
                    <c:v>800</c:v>
                  </c:pt>
                  <c:pt idx="4">
                    <c:v>1,000</c:v>
                  </c:pt>
                  <c:pt idx="5">
                    <c:v>1,200</c:v>
                  </c:pt>
                  <c:pt idx="6">
                    <c:v>1,400</c:v>
                  </c:pt>
                  <c:pt idx="7">
                    <c:v>1,600</c:v>
                  </c:pt>
                  <c:pt idx="8">
                    <c:v>1,800</c:v>
                  </c:pt>
                  <c:pt idx="9">
                    <c:v>2,000</c:v>
                  </c:pt>
                  <c:pt idx="10">
                    <c:v>2,200</c:v>
                  </c:pt>
                  <c:pt idx="11">
                    <c:v>2,400</c:v>
                  </c:pt>
                  <c:pt idx="12">
                    <c:v>2,600</c:v>
                  </c:pt>
                  <c:pt idx="13">
                    <c:v>2,800</c:v>
                  </c:pt>
                </c:lvl>
              </c:multiLvlStrCache>
            </c:multiLvlStrRef>
          </c:cat>
          <c:val>
            <c:numRef>
              <c:f>Sheet1!$B$2:$B$15</c:f>
              <c:numCache>
                <c:formatCode>General</c:formatCode>
                <c:ptCount val="14"/>
                <c:pt idx="0">
                  <c:v>-23711</c:v>
                </c:pt>
                <c:pt idx="1">
                  <c:v>-18628</c:v>
                </c:pt>
                <c:pt idx="2">
                  <c:v>-13545</c:v>
                </c:pt>
                <c:pt idx="3">
                  <c:v>-8462</c:v>
                </c:pt>
                <c:pt idx="4">
                  <c:v>-3379</c:v>
                </c:pt>
                <c:pt idx="5">
                  <c:v>1705</c:v>
                </c:pt>
                <c:pt idx="6">
                  <c:v>6788</c:v>
                </c:pt>
                <c:pt idx="7">
                  <c:v>11871</c:v>
                </c:pt>
                <c:pt idx="8">
                  <c:v>16954</c:v>
                </c:pt>
                <c:pt idx="9">
                  <c:v>22037</c:v>
                </c:pt>
                <c:pt idx="10">
                  <c:v>27121</c:v>
                </c:pt>
                <c:pt idx="11">
                  <c:v>32204</c:v>
                </c:pt>
                <c:pt idx="12">
                  <c:v>37287</c:v>
                </c:pt>
                <c:pt idx="13">
                  <c:v>42370</c:v>
                </c:pt>
              </c:numCache>
            </c:numRef>
          </c:val>
          <c:smooth val="0"/>
        </c:ser>
        <c:dLbls>
          <c:numFmt formatCode="#,##0" sourceLinked="0"/>
          <c:txPr>
            <a:bodyPr/>
            <a:lstStyle/>
            <a:p>
              <a:pPr>
                <a:defRPr b="1" i="0" strike="noStrike" sz="1200" u="none">
                  <a:solidFill>
                    <a:srgbClr val="1C272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FE6E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723"/>
                </a:solidFill>
                <a:latin typeface="+mn-lt"/>
              </a:defRPr>
            </a:pPr>
            <a:r>
              <a:rPr sz="1200" b="0" i="0" u="none" strike="noStrike">
                <a:solidFill>
                  <a:srgbClr val="1C2723"/>
                </a:solidFill>
                <a:latin typeface="+mn-lt"/>
              </a:rPr>
              <a:t>Change in monthly profit per store (₹ lakh), one input moved 10%</a:t>
            </a:r>
          </a:p>
        </c:rich>
      </c:tx>
      <c:layout/>
      <c:overlay val="0"/>
    </c:title>
    <c:autoTitleDeleted val="0"/>
    <c:plotArea>
      <c:layout/>
      <c:barChart>
        <c:barDir val="bar"/>
        <c:grouping val="stacked"/>
        <c:varyColors val="0"/>
        <c:ser>
          <c:idx val="0"/>
          <c:order val="0"/>
          <c:tx>
            <c:strRef>
              <c:f>Sheet1!$B$1</c:f>
              <c:strCache>
                <c:ptCount val="1"/>
                <c:pt idx="0">
                  <c:v>Input 10% lower</c:v>
                </c:pt>
              </c:strCache>
            </c:strRef>
          </c:tx>
          <c:spPr>
            <a:solidFill>
              <a:srgbClr val="A8CBB7"/>
            </a:solidFill>
            <a:effectLst/>
          </c:spPr>
          <c:invertIfNegative val="0"/>
          <c:dLbls>
            <c:numFmt formatCode="+0.00;−0.00" sourceLinked="0"/>
            <c:txPr>
              <a:bodyPr/>
              <a:lstStyle/>
              <a:p>
                <a:pPr>
                  <a:defRPr b="1" i="0" strike="noStrike" sz="1200" u="none">
                    <a:solidFill>
                      <a:srgbClr val="1C2723"/>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Basket size</c:v>
                  </c:pt>
                  <c:pt idx="1">
                    <c:v>Rider cost</c:v>
                  </c:pt>
                  <c:pt idx="2">
                    <c:v>Fixed cost</c:v>
                  </c:pt>
                  <c:pt idx="3">
                    <c:v>Orders a day</c:v>
                  </c:pt>
                </c:lvl>
              </c:multiLvlStrCache>
            </c:multiLvlStrRef>
          </c:cat>
          <c:val>
            <c:numRef>
              <c:f>Sheet1!$B$2:$B$5</c:f>
              <c:numCache>
                <c:formatCode>General</c:formatCode>
                <c:ptCount val="4"/>
                <c:pt idx="0">
                  <c:v>-2.43</c:v>
                </c:pt>
                <c:pt idx="1">
                  <c:v>1.45</c:v>
                </c:pt>
                <c:pt idx="2">
                  <c:v>0.86</c:v>
                </c:pt>
                <c:pt idx="3">
                  <c:v>-0.82</c:v>
                </c:pt>
              </c:numCache>
            </c:numRef>
          </c:val>
        </c:ser>
        <c:ser>
          <c:idx val="1"/>
          <c:order val="1"/>
          <c:tx>
            <c:strRef>
              <c:f>Sheet1!$C$1</c:f>
              <c:strCache>
                <c:ptCount val="1"/>
                <c:pt idx="0">
                  <c:v>Input 10% higher</c:v>
                </c:pt>
              </c:strCache>
            </c:strRef>
          </c:tx>
          <c:spPr>
            <a:solidFill>
              <a:srgbClr val="9DBEDD"/>
            </a:solidFill>
            <a:effectLst/>
          </c:spPr>
          <c:invertIfNegative val="0"/>
          <c:dLbls>
            <c:numFmt formatCode="+0.00;−0.00" sourceLinked="0"/>
            <c:txPr>
              <a:bodyPr/>
              <a:lstStyle/>
              <a:p>
                <a:pPr>
                  <a:defRPr b="1" i="0" strike="noStrike" sz="1200" u="none">
                    <a:solidFill>
                      <a:srgbClr val="1C2723"/>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Basket size</c:v>
                  </c:pt>
                  <c:pt idx="1">
                    <c:v>Rider cost</c:v>
                  </c:pt>
                  <c:pt idx="2">
                    <c:v>Fixed cost</c:v>
                  </c:pt>
                  <c:pt idx="3">
                    <c:v>Orders a day</c:v>
                  </c:pt>
                </c:lvl>
              </c:multiLvlStrCache>
            </c:multiLvlStrRef>
          </c:cat>
          <c:val>
            <c:numRef>
              <c:f>Sheet1!$C$2:$C$5</c:f>
              <c:numCache>
                <c:formatCode>General</c:formatCode>
                <c:ptCount val="4"/>
                <c:pt idx="0">
                  <c:v>2.43</c:v>
                </c:pt>
                <c:pt idx="1">
                  <c:v>-1.45</c:v>
                </c:pt>
                <c:pt idx="2">
                  <c:v>-0.86</c:v>
                </c:pt>
                <c:pt idx="3">
                  <c:v>0.82</c:v>
                </c:pt>
              </c:numCache>
            </c:numRef>
          </c:val>
        </c:ser>
        <c:dLbls>
          <c:numFmt formatCode="+0.00;−0.00" sourceLinked="0"/>
          <c:txPr>
            <a:bodyPr/>
            <a:lstStyle/>
            <a:p>
              <a:pPr>
                <a:defRPr b="1" i="0" strike="noStrike" sz="1200" u="none">
                  <a:solidFill>
                    <a:srgbClr val="1C2723"/>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FE6E2"/>
              </a:solidFill>
              <a:prstDash val="solid"/>
              <a:round/>
            </a:ln>
          </c:spPr>
        </c:majorGridlines>
        <c:numFmt formatCode="+0.0;−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272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723"/>
                </a:solidFill>
                <a:latin typeface="+mn-lt"/>
              </a:defRPr>
            </a:pPr>
            <a:r>
              <a:rPr sz="1300" b="0" i="0" u="none" strike="noStrike">
                <a:solidFill>
                  <a:srgbClr val="1C2723"/>
                </a:solidFill>
                <a:latin typeface="+mn-lt"/>
              </a:rPr>
              <a:t>Profit per store per month (₹ lakh)</a:t>
            </a:r>
          </a:p>
        </c:rich>
      </c:tx>
      <c:layout/>
      <c:overlay val="0"/>
    </c:title>
    <c:autoTitleDeleted val="0"/>
    <c:plotArea>
      <c:layout/>
      <c:barChart>
        <c:barDir val="col"/>
        <c:grouping val="clustered"/>
        <c:varyColors val="0"/>
        <c:ser>
          <c:idx val="0"/>
          <c:order val="0"/>
          <c:tx>
            <c:strRef>
              <c:f>Sheet1!$B$1</c:f>
              <c:strCache>
                <c:ptCount val="1"/>
                <c:pt idx="0">
                  <c:v>Profit per store per month</c:v>
                </c:pt>
              </c:strCache>
            </c:strRef>
          </c:tx>
          <c:spPr>
            <a:solidFill>
              <a:srgbClr val="C2412D"/>
            </a:solidFill>
            <a:effectLst/>
          </c:spPr>
          <c:invertIfNegative val="0"/>
          <c:dLbls>
            <c:numFmt formatCode="+0.00;−0.00" sourceLinked="0"/>
            <c:txPr>
              <a:bodyPr/>
              <a:lstStyle/>
              <a:p>
                <a:pPr>
                  <a:defRPr b="1" i="0" strike="noStrike" sz="1200" u="none">
                    <a:solidFill>
                      <a:srgbClr val="1C2723"/>
                    </a:solidFill>
                    <a:latin typeface="+mn-lt"/>
                  </a:defRPr>
                </a:pPr>
              </a:p>
            </c:txPr>
            <c:showLegendKey val="0"/>
            <c:showVal val="1"/>
            <c:showCatName val="0"/>
            <c:showSerName val="0"/>
            <c:showPercent val="0"/>
            <c:showBubbleSize val="0"/>
            <c:showLeaderLines val="0"/>
          </c:dLbls>
          <c:dPt>
            <c:idx val="0"/>
            <c:invertIfNegative val="0"/>
            <c:bubble3D val="0"/>
            <c:spPr>
              <a:solidFill>
                <a:srgbClr val="C2412D"/>
              </a:solidFill>
              <a:effectLst/>
            </c:spPr>
          </c:dPt>
          <c:dPt>
            <c:idx val="1"/>
            <c:invertIfNegative val="0"/>
            <c:bubble3D val="0"/>
            <c:spPr>
              <a:solidFill>
                <a:srgbClr val="A8CBB7"/>
              </a:solidFill>
              <a:effectLst/>
            </c:spPr>
          </c:dPt>
          <c:dPt>
            <c:idx val="2"/>
            <c:invertIfNegative val="0"/>
            <c:bubble3D val="0"/>
            <c:spPr>
              <a:solidFill>
                <a:srgbClr val="C2412D"/>
              </a:solidFill>
              <a:effectLst/>
            </c:spPr>
          </c:dPt>
          <c:dPt>
            <c:idx val="3"/>
            <c:invertIfNegative val="0"/>
            <c:bubble3D val="0"/>
            <c:spPr>
              <a:solidFill>
                <a:srgbClr val="1E8A5A"/>
              </a:solidFill>
              <a:effectLst/>
            </c:spPr>
          </c:dPt>
          <c:cat>
            <c:multiLvlStrRef>
              <c:f>Sheet1!$A$2:$A$5</c:f>
              <c:multiLvlStrCache>
                <c:ptCount val="4"/>
                <c:lvl>
                  <c:pt idx="0">
                    <c:v>Today</c:v>
                  </c:pt>
                  <c:pt idx="1">
                    <c:v>30% more orders</c:v>
                  </c:pt>
                  <c:pt idx="2">
                    <c:v>Discount war</c:v>
                  </c:pt>
                  <c:pt idx="3">
                    <c:v>Lever pack</c:v>
                  </c:pt>
                </c:lvl>
              </c:multiLvlStrCache>
            </c:multiLvlStrRef>
          </c:cat>
          <c:val>
            <c:numRef>
              <c:f>Sheet1!$B$2:$B$5</c:f>
              <c:numCache>
                <c:formatCode>General</c:formatCode>
                <c:ptCount val="4"/>
                <c:pt idx="0">
                  <c:v>-0.45</c:v>
                </c:pt>
                <c:pt idx="1">
                  <c:v>2.01</c:v>
                </c:pt>
                <c:pt idx="2">
                  <c:v>-3.17</c:v>
                </c:pt>
                <c:pt idx="3">
                  <c:v>5.21</c:v>
                </c:pt>
              </c:numCache>
            </c:numRef>
          </c:val>
        </c:ser>
        <c:dLbls>
          <c:numFmt formatCode="+0.00;−0.00" sourceLinked="0"/>
          <c:txPr>
            <a:bodyPr/>
            <a:lstStyle/>
            <a:p>
              <a:pPr>
                <a:defRPr b="1" i="0" strike="noStrike" sz="1200" u="none">
                  <a:solidFill>
                    <a:srgbClr val="1C272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max val="6"/>
          <c:min val="-4"/>
        </c:scaling>
        <c:delete val="0"/>
        <c:axPos val="l"/>
        <c:majorGridlines>
          <c:spPr>
            <a:ln w="9525" cap="flat">
              <a:solidFill>
                <a:srgbClr val="DFE6E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Excel model of a Swiggy Instamart dark store, built only from Swiggy's public quarterly results. The question: how many orders a day does a store need to break even, and which lever moves profit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A store needs about 1,133 orders a day to break even, only 5.4% more than today. The disclosed margin is minus 0.2%, so each order loses about a rupee and a half. And the biggest lever is the basket: 10% bigger baskets are worth about 85 crore rupees a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rebuilds one order and one store from the public results. Swiggy only discloses total cost, so I assumed the split between variable and fixed cost, then solved the fixed cost so that the model reproduces the disclosed minus 0.2% margin. Nine checks confirm the model matches every disclosed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order. The basket is 691 rupees, but Instamart keeps 108 of it: its product margin plus fees and ad income, minus discounts. Variable costs, mostly the rider, take about 83. That leaves about 25 rupees per order to cover fixed costs, which come to about 27 per order at today's volume. So each order loses about 1.38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extra order adds about 25 rupees, so profit rises in a straight line with volume. Today a store loses about 1,500 rupees a day. At 1,133 orders a day, 58 more than today, the line crosses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tornado moves one input at a time by 10% and shows the change in monthly profit per store. Basket size swings it by about 4.9 lakh rupees, then rider cost. Order volume ranks only fourth. So growing the basket beats chasing more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cases. Today each store loses about 45 thousand rupees a month. Thirty percent more orders turns that positive. A discount war is the trap: orders rise 10%, but each order carries 10 rupees more discount, so the loss gets worse. A pack of small moves, a slightly bigger basket, a bit more ad income and fees, slightly cheaper riders, does best, at today's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goal is a 2% margin, volume alone needs about 2,500 orders a day, more than double today. The lever pack gets to 2.2% without a single extra order. The two are not exclusive: basket and cost moves stack with any volume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grow the basket first, then work on rider cost, and avoid buying volume with discounts. And because the cost split is my assumption, the first real step would be to replace it with store-level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workbook is in the repository: change any yellow assumption and the whole model updates, and the case file on my portfolio has the same break-even as an interactive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rtlCol="0" anchor="ctr"/>
          <a:lstStyle/>
          <a:p>
            <a:pPr indent="0" marL="0">
              <a:buNone/>
            </a:pPr>
            <a:r>
              <a:rPr lang="en-US" sz="1000" dirty="0">
                <a:solidFill>
                  <a:schemeClr val="accent4"/>
                </a:solidFill>
              </a:rPr>
              <a:t>Dark-store break-even model · Parth Dhawan</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parthdhawan921-ops/dark-store-breakeven-model" TargetMode="External"/><Relationship Id="rId4" Type="http://schemas.openxmlformats.org/officeDocument/2006/relationships/hyperlink" Target="https://parthdhawan921-ops.github.io/Parth_Personal/#darkstore" TargetMode="External"/><Relationship Id="rId6" Type="http://schemas.openxmlformats.org/officeDocument/2006/relationships/hyperlink" Target="mailto:parthdhawan921@gmail.com" TargetMode="External"/><Relationship Id="rId1" Type="http://schemas.openxmlformats.org/officeDocument/2006/relationships/image" Target="../media/image-10-1.png"/><Relationship Id="rId3" Type="http://schemas.openxmlformats.org/officeDocument/2006/relationships/image" Target="../media/image-10-2.png"/><Relationship Id="rId5" Type="http://schemas.openxmlformats.org/officeDocument/2006/relationships/image" Target="../media/image-10-3.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800" b="1" dirty="0">
                <a:solidFill>
                  <a:schemeClr val="bg1"/>
                </a:solidFill>
              </a:rPr>
              <a:t>A dark store needs about 1,133 orders a day to break even</a:t>
            </a: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Swiggy Instamart · Excel model from public results · Parth Dhawan · Oct 2026</a:t>
            </a:r>
            <a:endParaRPr lang="en-US" sz="1800" dirty="0"/>
          </a:p>
        </p:txBody>
      </p:sp>
      <p:sp>
        <p:nvSpPr>
          <p:cNvPr id="4" name="Store disc"/>
          <p:cNvSpPr/>
          <p:nvPr/>
        </p:nvSpPr>
        <p:spPr>
          <a:xfrm>
            <a:off x="548640" y="502920"/>
            <a:ext cx="566928" cy="566928"/>
          </a:xfrm>
          <a:prstGeom prst="ellipse">
            <a:avLst/>
          </a:prstGeom>
          <a:solidFill>
            <a:schemeClr val="accent2"/>
          </a:solidFill>
          <a:ln w="12700">
            <a:solidFill>
              <a:schemeClr val="accent2"/>
            </a:solidFill>
            <a:prstDash val="solid"/>
          </a:ln>
        </p:spPr>
      </p:sp>
      <p:pic>
        <p:nvPicPr>
          <p:cNvPr id="5" name="Store icon" descr="Store">    </p:cNvPr>
          <p:cNvPicPr>
            <a:picLocks noChangeAspect="1"/>
          </p:cNvPicPr>
          <p:nvPr/>
        </p:nvPicPr>
        <p:blipFill>
          <a:blip r:embed="rId1"/>
          <a:stretch>
            <a:fillRect/>
          </a:stretch>
        </p:blipFill>
        <p:spPr>
          <a:xfrm>
            <a:off x="684703" y="638983"/>
            <a:ext cx="294803" cy="294803"/>
          </a:xfrm>
          <a:prstGeom prst="rect">
            <a:avLst/>
          </a:prstGeom>
        </p:spPr>
      </p:pic>
      <p:sp>
        <p:nvSpPr>
          <p:cNvPr id="6" name="Scope line"/>
          <p:cNvSpPr txBox="1"/>
          <p:nvPr/>
        </p:nvSpPr>
        <p:spPr>
          <a:xfrm>
            <a:off x="548640" y="4343400"/>
            <a:ext cx="7863840" cy="320040"/>
          </a:xfrm>
          <a:prstGeom prst="rect">
            <a:avLst/>
          </a:prstGeom>
          <a:noFill/>
          <a:ln/>
        </p:spPr>
        <p:txBody>
          <a:bodyPr wrap="square" lIns="0" tIns="0" rIns="0" bIns="0" rtlCol="0" anchor="ctr"/>
          <a:lstStyle/>
          <a:p>
            <a:pPr indent="0" marL="0">
              <a:buNone/>
            </a:pPr>
            <a:r>
              <a:rPr lang="en-US" sz="1300" dirty="0">
                <a:solidFill>
                  <a:schemeClr val="accent5"/>
                </a:solidFill>
              </a:rPr>
              <a:t>114.5M orders  ·  ₹691 average basket  ·  1,171 dark stores  ·  Apr to Jun 2026 (Q1 FY27)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Close to break-even, and the basket is the fastest lever</a:t>
            </a:r>
            <a:endParaRPr lang="en-US" sz="2600" dirty="0"/>
          </a:p>
        </p:txBody>
      </p:sp>
      <p:sp>
        <p:nvSpPr>
          <p:cNvPr id="3" name="Summary card 1"/>
          <p:cNvSpPr/>
          <p:nvPr/>
        </p:nvSpPr>
        <p:spPr>
          <a:xfrm>
            <a:off x="457200" y="1234440"/>
            <a:ext cx="2615184" cy="3246120"/>
          </a:xfrm>
          <a:prstGeom prst="roundRect">
            <a:avLst>
              <a:gd name="adj" fmla="val 2797"/>
            </a:avLst>
          </a:prstGeom>
          <a:solidFill>
            <a:schemeClr val="bg2"/>
          </a:solidFill>
          <a:ln w="12700">
            <a:solidFill>
              <a:schemeClr val="bg2"/>
            </a:solidFill>
            <a:prstDash val="solid"/>
          </a:ln>
        </p:spPr>
      </p:sp>
      <p:sp>
        <p:nvSpPr>
          <p:cNvPr id="4" name="Summary 1 disc"/>
          <p:cNvSpPr/>
          <p:nvPr/>
        </p:nvSpPr>
        <p:spPr>
          <a:xfrm>
            <a:off x="685800" y="1463040"/>
            <a:ext cx="502920" cy="502920"/>
          </a:xfrm>
          <a:prstGeom prst="ellipse">
            <a:avLst/>
          </a:prstGeom>
          <a:solidFill>
            <a:schemeClr val="tx2"/>
          </a:solidFill>
          <a:ln w="12700">
            <a:solidFill>
              <a:schemeClr val="tx2"/>
            </a:solidFill>
            <a:prstDash val="solid"/>
          </a:ln>
        </p:spPr>
      </p:sp>
      <p:pic>
        <p:nvPicPr>
          <p:cNvPr id="5" name="Summary 1 icon" descr="Summary 1">    </p:cNvPr>
          <p:cNvPicPr>
            <a:picLocks noChangeAspect="1"/>
          </p:cNvPicPr>
          <p:nvPr/>
        </p:nvPicPr>
        <p:blipFill>
          <a:blip r:embed="rId1"/>
          <a:stretch>
            <a:fillRect/>
          </a:stretch>
        </p:blipFill>
        <p:spPr>
          <a:xfrm>
            <a:off x="806501" y="1583741"/>
            <a:ext cx="261518" cy="261518"/>
          </a:xfrm>
          <a:prstGeom prst="rect">
            <a:avLst/>
          </a:prstGeom>
        </p:spPr>
      </p:pic>
      <p:sp>
        <p:nvSpPr>
          <p:cNvPr id="6" name="Summary number 1"/>
          <p:cNvSpPr txBox="1"/>
          <p:nvPr/>
        </p:nvSpPr>
        <p:spPr>
          <a:xfrm>
            <a:off x="685800" y="2103120"/>
            <a:ext cx="2194560" cy="685800"/>
          </a:xfrm>
          <a:prstGeom prst="rect">
            <a:avLst/>
          </a:prstGeom>
          <a:noFill/>
          <a:ln/>
        </p:spPr>
        <p:txBody>
          <a:bodyPr wrap="square" lIns="0" tIns="0" rIns="0" bIns="0" rtlCol="0" anchor="ctr"/>
          <a:lstStyle/>
          <a:p>
            <a:pPr indent="0" marL="0">
              <a:buNone/>
            </a:pPr>
            <a:r>
              <a:rPr lang="en-US" sz="3800" b="1" dirty="0">
                <a:solidFill>
                  <a:schemeClr val="tx1"/>
                </a:solidFill>
              </a:rPr>
              <a:t>~1,133</a:t>
            </a:r>
            <a:endParaRPr lang="en-US" sz="3800" dirty="0"/>
          </a:p>
        </p:txBody>
      </p:sp>
      <p:sp>
        <p:nvSpPr>
          <p:cNvPr id="7" name="Summary label 1"/>
          <p:cNvSpPr txBox="1"/>
          <p:nvPr/>
        </p:nvSpPr>
        <p:spPr>
          <a:xfrm>
            <a:off x="685800" y="2788920"/>
            <a:ext cx="2194560" cy="457200"/>
          </a:xfrm>
          <a:prstGeom prst="rect">
            <a:avLst/>
          </a:prstGeom>
          <a:noFill/>
          <a:ln/>
        </p:spPr>
        <p:txBody>
          <a:bodyPr wrap="square" lIns="0" tIns="0" rIns="0" bIns="0" rtlCol="0" anchor="t"/>
          <a:lstStyle/>
          <a:p>
            <a:pPr indent="0" marL="0">
              <a:buNone/>
            </a:pPr>
            <a:r>
              <a:rPr lang="en-US" sz="1500" b="1" dirty="0">
                <a:solidFill>
                  <a:schemeClr val="tx1"/>
                </a:solidFill>
              </a:rPr>
              <a:t>orders a day to break even</a:t>
            </a:r>
            <a:endParaRPr lang="en-US" sz="1500" dirty="0"/>
          </a:p>
        </p:txBody>
      </p:sp>
      <p:sp>
        <p:nvSpPr>
          <p:cNvPr id="8" name="Summary text 1"/>
          <p:cNvSpPr txBox="1"/>
          <p:nvPr/>
        </p:nvSpPr>
        <p:spPr>
          <a:xfrm>
            <a:off x="685800" y="3291840"/>
            <a:ext cx="2194560" cy="1051560"/>
          </a:xfrm>
          <a:prstGeom prst="rect">
            <a:avLst/>
          </a:prstGeom>
          <a:noFill/>
          <a:ln/>
        </p:spPr>
        <p:txBody>
          <a:bodyPr wrap="square" lIns="0" tIns="0" rIns="0" bIns="0" rtlCol="0" anchor="t"/>
          <a:lstStyle/>
          <a:p>
            <a:pPr indent="0" marL="0">
              <a:buNone/>
            </a:pPr>
            <a:r>
              <a:rPr lang="en-US" sz="1300" dirty="0">
                <a:solidFill>
                  <a:schemeClr val="accent4"/>
                </a:solidFill>
              </a:rPr>
              <a:t>5.4% more than today's ~1,075 per store: about 58 extra orders a day.</a:t>
            </a:r>
            <a:endParaRPr lang="en-US" sz="1300" dirty="0"/>
          </a:p>
        </p:txBody>
      </p:sp>
      <p:sp>
        <p:nvSpPr>
          <p:cNvPr id="9" name="Summary card 2"/>
          <p:cNvSpPr/>
          <p:nvPr/>
        </p:nvSpPr>
        <p:spPr>
          <a:xfrm>
            <a:off x="3264408" y="1234440"/>
            <a:ext cx="2615184" cy="3246120"/>
          </a:xfrm>
          <a:prstGeom prst="roundRect">
            <a:avLst>
              <a:gd name="adj" fmla="val 2797"/>
            </a:avLst>
          </a:prstGeom>
          <a:solidFill>
            <a:schemeClr val="bg2"/>
          </a:solidFill>
          <a:ln w="12700">
            <a:solidFill>
              <a:schemeClr val="bg2"/>
            </a:solidFill>
            <a:prstDash val="solid"/>
          </a:ln>
        </p:spPr>
      </p:sp>
      <p:sp>
        <p:nvSpPr>
          <p:cNvPr id="10" name="Summary 2 disc"/>
          <p:cNvSpPr/>
          <p:nvPr/>
        </p:nvSpPr>
        <p:spPr>
          <a:xfrm>
            <a:off x="3493008" y="1463040"/>
            <a:ext cx="502920" cy="502920"/>
          </a:xfrm>
          <a:prstGeom prst="ellipse">
            <a:avLst/>
          </a:prstGeom>
          <a:solidFill>
            <a:schemeClr val="accent1"/>
          </a:solidFill>
          <a:ln w="12700">
            <a:solidFill>
              <a:schemeClr val="accent1"/>
            </a:solidFill>
            <a:prstDash val="solid"/>
          </a:ln>
        </p:spPr>
      </p:sp>
      <p:pic>
        <p:nvPicPr>
          <p:cNvPr id="11" name="Summary 2 icon" descr="Summary 2">    </p:cNvPr>
          <p:cNvPicPr>
            <a:picLocks noChangeAspect="1"/>
          </p:cNvPicPr>
          <p:nvPr/>
        </p:nvPicPr>
        <p:blipFill>
          <a:blip r:embed="rId2"/>
          <a:stretch>
            <a:fillRect/>
          </a:stretch>
        </p:blipFill>
        <p:spPr>
          <a:xfrm>
            <a:off x="3613709" y="1583741"/>
            <a:ext cx="261518" cy="261518"/>
          </a:xfrm>
          <a:prstGeom prst="rect">
            <a:avLst/>
          </a:prstGeom>
        </p:spPr>
      </p:pic>
      <p:sp>
        <p:nvSpPr>
          <p:cNvPr id="12" name="Summary number 2"/>
          <p:cNvSpPr txBox="1"/>
          <p:nvPr/>
        </p:nvSpPr>
        <p:spPr>
          <a:xfrm>
            <a:off x="3493008" y="2103120"/>
            <a:ext cx="2194560" cy="685800"/>
          </a:xfrm>
          <a:prstGeom prst="rect">
            <a:avLst/>
          </a:prstGeom>
          <a:noFill/>
          <a:ln/>
        </p:spPr>
        <p:txBody>
          <a:bodyPr wrap="square" lIns="0" tIns="0" rIns="0" bIns="0" rtlCol="0" anchor="ctr"/>
          <a:lstStyle/>
          <a:p>
            <a:pPr indent="0" marL="0">
              <a:buNone/>
            </a:pPr>
            <a:r>
              <a:rPr lang="en-US" sz="3800" b="1" dirty="0">
                <a:solidFill>
                  <a:schemeClr val="accent1"/>
                </a:solidFill>
              </a:rPr>
              <a:t>−0.2%</a:t>
            </a:r>
            <a:endParaRPr lang="en-US" sz="3800" dirty="0"/>
          </a:p>
        </p:txBody>
      </p:sp>
      <p:sp>
        <p:nvSpPr>
          <p:cNvPr id="13" name="Summary label 2"/>
          <p:cNvSpPr txBox="1"/>
          <p:nvPr/>
        </p:nvSpPr>
        <p:spPr>
          <a:xfrm>
            <a:off x="3493008" y="2788920"/>
            <a:ext cx="2194560" cy="457200"/>
          </a:xfrm>
          <a:prstGeom prst="rect">
            <a:avLst/>
          </a:prstGeom>
          <a:noFill/>
          <a:ln/>
        </p:spPr>
        <p:txBody>
          <a:bodyPr wrap="square" lIns="0" tIns="0" rIns="0" bIns="0" rtlCol="0" anchor="t"/>
          <a:lstStyle/>
          <a:p>
            <a:pPr indent="0" marL="0">
              <a:buNone/>
            </a:pPr>
            <a:r>
              <a:rPr lang="en-US" sz="1500" b="1" dirty="0">
                <a:solidFill>
                  <a:schemeClr val="tx1"/>
                </a:solidFill>
              </a:rPr>
              <a:t>margin today, as disclosed</a:t>
            </a:r>
            <a:endParaRPr lang="en-US" sz="1500" dirty="0"/>
          </a:p>
        </p:txBody>
      </p:sp>
      <p:sp>
        <p:nvSpPr>
          <p:cNvPr id="14" name="Summary text 2"/>
          <p:cNvSpPr txBox="1"/>
          <p:nvPr/>
        </p:nvSpPr>
        <p:spPr>
          <a:xfrm>
            <a:off x="3493008" y="3291840"/>
            <a:ext cx="2194560" cy="1051560"/>
          </a:xfrm>
          <a:prstGeom prst="rect">
            <a:avLst/>
          </a:prstGeom>
          <a:noFill/>
          <a:ln/>
        </p:spPr>
        <p:txBody>
          <a:bodyPr wrap="square" lIns="0" tIns="0" rIns="0" bIns="0" rtlCol="0" anchor="t"/>
          <a:lstStyle/>
          <a:p>
            <a:pPr indent="0" marL="0">
              <a:buNone/>
            </a:pPr>
            <a:r>
              <a:rPr lang="en-US" sz="1300" dirty="0">
                <a:solidFill>
                  <a:schemeClr val="accent4"/>
                </a:solidFill>
              </a:rPr>
              <a:t>After fixed costs, each order loses about ₹1.38 on a ₹691 basket.</a:t>
            </a:r>
            <a:endParaRPr lang="en-US" sz="1300" dirty="0"/>
          </a:p>
        </p:txBody>
      </p:sp>
      <p:sp>
        <p:nvSpPr>
          <p:cNvPr id="15" name="Summary card 3"/>
          <p:cNvSpPr/>
          <p:nvPr/>
        </p:nvSpPr>
        <p:spPr>
          <a:xfrm>
            <a:off x="6071616" y="1234440"/>
            <a:ext cx="2615184" cy="3246120"/>
          </a:xfrm>
          <a:prstGeom prst="roundRect">
            <a:avLst>
              <a:gd name="adj" fmla="val 2797"/>
            </a:avLst>
          </a:prstGeom>
          <a:solidFill>
            <a:schemeClr val="bg2"/>
          </a:solidFill>
          <a:ln w="12700">
            <a:solidFill>
              <a:schemeClr val="bg2"/>
            </a:solidFill>
            <a:prstDash val="solid"/>
          </a:ln>
        </p:spPr>
      </p:sp>
      <p:sp>
        <p:nvSpPr>
          <p:cNvPr id="16" name="Summary 3 disc"/>
          <p:cNvSpPr/>
          <p:nvPr/>
        </p:nvSpPr>
        <p:spPr>
          <a:xfrm>
            <a:off x="6300216" y="1463040"/>
            <a:ext cx="502920" cy="502920"/>
          </a:xfrm>
          <a:prstGeom prst="ellipse">
            <a:avLst/>
          </a:prstGeom>
          <a:solidFill>
            <a:schemeClr val="accent2"/>
          </a:solidFill>
          <a:ln w="12700">
            <a:solidFill>
              <a:schemeClr val="accent2"/>
            </a:solidFill>
            <a:prstDash val="solid"/>
          </a:ln>
        </p:spPr>
      </p:sp>
      <p:pic>
        <p:nvPicPr>
          <p:cNvPr id="17" name="Summary 3 icon" descr="Summary 3">    </p:cNvPr>
          <p:cNvPicPr>
            <a:picLocks noChangeAspect="1"/>
          </p:cNvPicPr>
          <p:nvPr/>
        </p:nvPicPr>
        <p:blipFill>
          <a:blip r:embed="rId3"/>
          <a:stretch>
            <a:fillRect/>
          </a:stretch>
        </p:blipFill>
        <p:spPr>
          <a:xfrm>
            <a:off x="6420917" y="1583741"/>
            <a:ext cx="261518" cy="261518"/>
          </a:xfrm>
          <a:prstGeom prst="rect">
            <a:avLst/>
          </a:prstGeom>
        </p:spPr>
      </p:pic>
      <p:sp>
        <p:nvSpPr>
          <p:cNvPr id="18" name="Summary number 3"/>
          <p:cNvSpPr txBox="1"/>
          <p:nvPr/>
        </p:nvSpPr>
        <p:spPr>
          <a:xfrm>
            <a:off x="6300216" y="2103120"/>
            <a:ext cx="2194560" cy="685800"/>
          </a:xfrm>
          <a:prstGeom prst="rect">
            <a:avLst/>
          </a:prstGeom>
          <a:noFill/>
          <a:ln/>
        </p:spPr>
        <p:txBody>
          <a:bodyPr wrap="square" lIns="0" tIns="0" rIns="0" bIns="0" rtlCol="0" anchor="ctr"/>
          <a:lstStyle/>
          <a:p>
            <a:pPr indent="0" marL="0">
              <a:buNone/>
            </a:pPr>
            <a:r>
              <a:rPr lang="en-US" sz="3800" b="1" dirty="0">
                <a:solidFill>
                  <a:schemeClr val="accent2"/>
                </a:solidFill>
              </a:rPr>
              <a:t>₹85 cr</a:t>
            </a:r>
            <a:endParaRPr lang="en-US" sz="3800" dirty="0"/>
          </a:p>
        </p:txBody>
      </p:sp>
      <p:sp>
        <p:nvSpPr>
          <p:cNvPr id="19" name="Summary label 3"/>
          <p:cNvSpPr txBox="1"/>
          <p:nvPr/>
        </p:nvSpPr>
        <p:spPr>
          <a:xfrm>
            <a:off x="6300216" y="2788920"/>
            <a:ext cx="2194560" cy="457200"/>
          </a:xfrm>
          <a:prstGeom prst="rect">
            <a:avLst/>
          </a:prstGeom>
          <a:noFill/>
          <a:ln/>
        </p:spPr>
        <p:txBody>
          <a:bodyPr wrap="square" lIns="0" tIns="0" rIns="0" bIns="0" rtlCol="0" anchor="t"/>
          <a:lstStyle/>
          <a:p>
            <a:pPr indent="0" marL="0">
              <a:buNone/>
            </a:pPr>
            <a:r>
              <a:rPr lang="en-US" sz="1500" b="1" dirty="0">
                <a:solidFill>
                  <a:schemeClr val="tx1"/>
                </a:solidFill>
              </a:rPr>
              <a:t>a quarter from a 10% bigger basket</a:t>
            </a:r>
            <a:endParaRPr lang="en-US" sz="1500" dirty="0"/>
          </a:p>
        </p:txBody>
      </p:sp>
      <p:sp>
        <p:nvSpPr>
          <p:cNvPr id="20" name="Summary text 3"/>
          <p:cNvSpPr txBox="1"/>
          <p:nvPr/>
        </p:nvSpPr>
        <p:spPr>
          <a:xfrm>
            <a:off x="6300216" y="3291840"/>
            <a:ext cx="2194560" cy="1051560"/>
          </a:xfrm>
          <a:prstGeom prst="rect">
            <a:avLst/>
          </a:prstGeom>
          <a:noFill/>
          <a:ln/>
        </p:spPr>
        <p:txBody>
          <a:bodyPr wrap="square" lIns="0" tIns="0" rIns="0" bIns="0" rtlCol="0" anchor="t"/>
          <a:lstStyle/>
          <a:p>
            <a:pPr indent="0" marL="0">
              <a:buNone/>
            </a:pPr>
            <a:r>
              <a:rPr lang="en-US" sz="1300" dirty="0">
                <a:solidFill>
                  <a:schemeClr val="accent4"/>
                </a:solidFill>
              </a:rPr>
              <a:t>+₹2.4 lakh per store per month, across all 1,171 stores.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Built only from public numbers, then checked</a:t>
            </a:r>
            <a:endParaRPr lang="en-US" sz="2600" dirty="0"/>
          </a:p>
        </p:txBody>
      </p:sp>
      <p:sp>
        <p:nvSpPr>
          <p:cNvPr id="3" name="Step Disclosures disc"/>
          <p:cNvSpPr/>
          <p:nvPr/>
        </p:nvSpPr>
        <p:spPr>
          <a:xfrm>
            <a:off x="914400" y="1325880"/>
            <a:ext cx="566928" cy="566928"/>
          </a:xfrm>
          <a:prstGeom prst="ellipse">
            <a:avLst/>
          </a:prstGeom>
          <a:solidFill>
            <a:schemeClr val="tx2"/>
          </a:solidFill>
          <a:ln w="12700">
            <a:solidFill>
              <a:schemeClr val="tx2"/>
            </a:solidFill>
            <a:prstDash val="solid"/>
          </a:ln>
        </p:spPr>
      </p:sp>
      <p:pic>
        <p:nvPicPr>
          <p:cNvPr id="4" name="Step Disclosures icon" descr="Step Disclosures">    </p:cNvPr>
          <p:cNvPicPr>
            <a:picLocks noChangeAspect="1"/>
          </p:cNvPicPr>
          <p:nvPr/>
        </p:nvPicPr>
        <p:blipFill>
          <a:blip r:embed="rId1"/>
          <a:stretch>
            <a:fillRect/>
          </a:stretch>
        </p:blipFill>
        <p:spPr>
          <a:xfrm>
            <a:off x="1050463" y="1461943"/>
            <a:ext cx="294803" cy="294803"/>
          </a:xfrm>
          <a:prstGeom prst="rect">
            <a:avLst/>
          </a:prstGeom>
        </p:spPr>
      </p:pic>
      <p:sp>
        <p:nvSpPr>
          <p:cNvPr id="5" name="Step arrow 1"/>
          <p:cNvSpPr/>
          <p:nvPr/>
        </p:nvSpPr>
        <p:spPr>
          <a:xfrm>
            <a:off x="1554480" y="1609344"/>
            <a:ext cx="969264" cy="0"/>
          </a:xfrm>
          <a:prstGeom prst="line">
            <a:avLst/>
          </a:prstGeom>
          <a:noFill/>
          <a:ln w="19050">
            <a:solidFill>
              <a:srgbClr val="A8CBB7"/>
            </a:solidFill>
            <a:prstDash val="solid"/>
            <a:tailEnd type="triangle"/>
          </a:ln>
        </p:spPr>
      </p:sp>
      <p:sp>
        <p:nvSpPr>
          <p:cNvPr id="6" name="Step title Disclosures"/>
          <p:cNvSpPr txBox="1"/>
          <p:nvPr/>
        </p:nvSpPr>
        <p:spPr>
          <a:xfrm>
            <a:off x="457200" y="2011680"/>
            <a:ext cx="1481328" cy="365760"/>
          </a:xfrm>
          <a:prstGeom prst="rect">
            <a:avLst/>
          </a:prstGeom>
          <a:noFill/>
          <a:ln/>
        </p:spPr>
        <p:txBody>
          <a:bodyPr wrap="square" lIns="0" tIns="0" rIns="0" bIns="0" rtlCol="0" anchor="ctr"/>
          <a:lstStyle/>
          <a:p>
            <a:pPr algn="ctr" indent="0" marL="0">
              <a:buNone/>
            </a:pPr>
            <a:r>
              <a:rPr lang="en-US" sz="1500" b="1" dirty="0">
                <a:solidFill>
                  <a:schemeClr val="tx1"/>
                </a:solidFill>
              </a:rPr>
              <a:t>1. Disclosures</a:t>
            </a:r>
            <a:endParaRPr lang="en-US" sz="1500" dirty="0"/>
          </a:p>
        </p:txBody>
      </p:sp>
      <p:sp>
        <p:nvSpPr>
          <p:cNvPr id="7" name="Step text Disclosures"/>
          <p:cNvSpPr txBox="1"/>
          <p:nvPr/>
        </p:nvSpPr>
        <p:spPr>
          <a:xfrm>
            <a:off x="457200"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Orders, basket, revenue per order, margin, stores</a:t>
            </a:r>
            <a:endParaRPr lang="en-US" sz="1200" dirty="0"/>
          </a:p>
        </p:txBody>
      </p:sp>
      <p:sp>
        <p:nvSpPr>
          <p:cNvPr id="8" name="Step One order disc"/>
          <p:cNvSpPr/>
          <p:nvPr/>
        </p:nvSpPr>
        <p:spPr>
          <a:xfrm>
            <a:off x="2596896" y="1325880"/>
            <a:ext cx="566928" cy="566928"/>
          </a:xfrm>
          <a:prstGeom prst="ellipse">
            <a:avLst/>
          </a:prstGeom>
          <a:solidFill>
            <a:schemeClr val="tx2"/>
          </a:solidFill>
          <a:ln w="12700">
            <a:solidFill>
              <a:schemeClr val="tx2"/>
            </a:solidFill>
            <a:prstDash val="solid"/>
          </a:ln>
        </p:spPr>
      </p:sp>
      <p:pic>
        <p:nvPicPr>
          <p:cNvPr id="9" name="Step One order icon" descr="Step One order">    </p:cNvPr>
          <p:cNvPicPr>
            <a:picLocks noChangeAspect="1"/>
          </p:cNvPicPr>
          <p:nvPr/>
        </p:nvPicPr>
        <p:blipFill>
          <a:blip r:embed="rId2"/>
          <a:stretch>
            <a:fillRect/>
          </a:stretch>
        </p:blipFill>
        <p:spPr>
          <a:xfrm>
            <a:off x="2732959" y="1461943"/>
            <a:ext cx="294803" cy="294803"/>
          </a:xfrm>
          <a:prstGeom prst="rect">
            <a:avLst/>
          </a:prstGeom>
        </p:spPr>
      </p:pic>
      <p:sp>
        <p:nvSpPr>
          <p:cNvPr id="10" name="Step arrow 2"/>
          <p:cNvSpPr/>
          <p:nvPr/>
        </p:nvSpPr>
        <p:spPr>
          <a:xfrm>
            <a:off x="3236976" y="1609344"/>
            <a:ext cx="969264" cy="0"/>
          </a:xfrm>
          <a:prstGeom prst="line">
            <a:avLst/>
          </a:prstGeom>
          <a:noFill/>
          <a:ln w="19050">
            <a:solidFill>
              <a:srgbClr val="A8CBB7"/>
            </a:solidFill>
            <a:prstDash val="solid"/>
            <a:tailEnd type="triangle"/>
          </a:ln>
        </p:spPr>
      </p:sp>
      <p:sp>
        <p:nvSpPr>
          <p:cNvPr id="11" name="Step title One order"/>
          <p:cNvSpPr txBox="1"/>
          <p:nvPr/>
        </p:nvSpPr>
        <p:spPr>
          <a:xfrm>
            <a:off x="2139696" y="2011680"/>
            <a:ext cx="1481328" cy="365760"/>
          </a:xfrm>
          <a:prstGeom prst="rect">
            <a:avLst/>
          </a:prstGeom>
          <a:noFill/>
          <a:ln/>
        </p:spPr>
        <p:txBody>
          <a:bodyPr wrap="square" lIns="0" tIns="0" rIns="0" bIns="0" rtlCol="0" anchor="ctr"/>
          <a:lstStyle/>
          <a:p>
            <a:pPr algn="ctr" indent="0" marL="0">
              <a:buNone/>
            </a:pPr>
            <a:r>
              <a:rPr lang="en-US" sz="1500" b="1" dirty="0">
                <a:solidFill>
                  <a:schemeClr val="tx1"/>
                </a:solidFill>
              </a:rPr>
              <a:t>2. One order</a:t>
            </a:r>
            <a:endParaRPr lang="en-US" sz="1500" dirty="0"/>
          </a:p>
        </p:txBody>
      </p:sp>
      <p:sp>
        <p:nvSpPr>
          <p:cNvPr id="12" name="Step text One order"/>
          <p:cNvSpPr txBox="1"/>
          <p:nvPr/>
        </p:nvSpPr>
        <p:spPr>
          <a:xfrm>
            <a:off x="2139696"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Revenue and every cost, per order</a:t>
            </a:r>
            <a:endParaRPr lang="en-US" sz="1200" dirty="0"/>
          </a:p>
        </p:txBody>
      </p:sp>
      <p:sp>
        <p:nvSpPr>
          <p:cNvPr id="13" name="Step Calibrate disc"/>
          <p:cNvSpPr/>
          <p:nvPr/>
        </p:nvSpPr>
        <p:spPr>
          <a:xfrm>
            <a:off x="4279392" y="1325880"/>
            <a:ext cx="566928" cy="566928"/>
          </a:xfrm>
          <a:prstGeom prst="ellipse">
            <a:avLst/>
          </a:prstGeom>
          <a:solidFill>
            <a:schemeClr val="tx2"/>
          </a:solidFill>
          <a:ln w="12700">
            <a:solidFill>
              <a:schemeClr val="tx2"/>
            </a:solidFill>
            <a:prstDash val="solid"/>
          </a:ln>
        </p:spPr>
      </p:sp>
      <p:pic>
        <p:nvPicPr>
          <p:cNvPr id="14" name="Step Calibrate icon" descr="Step Calibrate">    </p:cNvPr>
          <p:cNvPicPr>
            <a:picLocks noChangeAspect="1"/>
          </p:cNvPicPr>
          <p:nvPr/>
        </p:nvPicPr>
        <p:blipFill>
          <a:blip r:embed="rId3"/>
          <a:stretch>
            <a:fillRect/>
          </a:stretch>
        </p:blipFill>
        <p:spPr>
          <a:xfrm>
            <a:off x="4415455" y="1461943"/>
            <a:ext cx="294803" cy="294803"/>
          </a:xfrm>
          <a:prstGeom prst="rect">
            <a:avLst/>
          </a:prstGeom>
        </p:spPr>
      </p:pic>
      <p:sp>
        <p:nvSpPr>
          <p:cNvPr id="15" name="Step arrow 3"/>
          <p:cNvSpPr/>
          <p:nvPr/>
        </p:nvSpPr>
        <p:spPr>
          <a:xfrm>
            <a:off x="4919472" y="1609344"/>
            <a:ext cx="969264" cy="0"/>
          </a:xfrm>
          <a:prstGeom prst="line">
            <a:avLst/>
          </a:prstGeom>
          <a:noFill/>
          <a:ln w="19050">
            <a:solidFill>
              <a:srgbClr val="A8CBB7"/>
            </a:solidFill>
            <a:prstDash val="solid"/>
            <a:tailEnd type="triangle"/>
          </a:ln>
        </p:spPr>
      </p:sp>
      <p:sp>
        <p:nvSpPr>
          <p:cNvPr id="16" name="Step title Calibrate"/>
          <p:cNvSpPr txBox="1"/>
          <p:nvPr/>
        </p:nvSpPr>
        <p:spPr>
          <a:xfrm>
            <a:off x="3822192" y="2011680"/>
            <a:ext cx="1481328" cy="365760"/>
          </a:xfrm>
          <a:prstGeom prst="rect">
            <a:avLst/>
          </a:prstGeom>
          <a:noFill/>
          <a:ln/>
        </p:spPr>
        <p:txBody>
          <a:bodyPr wrap="square" lIns="0" tIns="0" rIns="0" bIns="0" rtlCol="0" anchor="ctr"/>
          <a:lstStyle/>
          <a:p>
            <a:pPr algn="ctr" indent="0" marL="0">
              <a:buNone/>
            </a:pPr>
            <a:r>
              <a:rPr lang="en-US" sz="1500" b="1" dirty="0">
                <a:solidFill>
                  <a:schemeClr val="tx1"/>
                </a:solidFill>
              </a:rPr>
              <a:t>3. Calibrate</a:t>
            </a:r>
            <a:endParaRPr lang="en-US" sz="1500" dirty="0"/>
          </a:p>
        </p:txBody>
      </p:sp>
      <p:sp>
        <p:nvSpPr>
          <p:cNvPr id="17" name="Step text Calibrate"/>
          <p:cNvSpPr txBox="1"/>
          <p:nvPr/>
        </p:nvSpPr>
        <p:spPr>
          <a:xfrm>
            <a:off x="3822192"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Fixed cost solved to hit the disclosed −0.2%</a:t>
            </a:r>
            <a:endParaRPr lang="en-US" sz="1200" dirty="0"/>
          </a:p>
        </p:txBody>
      </p:sp>
      <p:sp>
        <p:nvSpPr>
          <p:cNvPr id="18" name="Step Break-even disc"/>
          <p:cNvSpPr/>
          <p:nvPr/>
        </p:nvSpPr>
        <p:spPr>
          <a:xfrm>
            <a:off x="5961888" y="1325880"/>
            <a:ext cx="566928" cy="566928"/>
          </a:xfrm>
          <a:prstGeom prst="ellipse">
            <a:avLst/>
          </a:prstGeom>
          <a:solidFill>
            <a:schemeClr val="tx2"/>
          </a:solidFill>
          <a:ln w="12700">
            <a:solidFill>
              <a:schemeClr val="tx2"/>
            </a:solidFill>
            <a:prstDash val="solid"/>
          </a:ln>
        </p:spPr>
      </p:sp>
      <p:pic>
        <p:nvPicPr>
          <p:cNvPr id="19" name="Step Break-even icon" descr="Step Break-even">    </p:cNvPr>
          <p:cNvPicPr>
            <a:picLocks noChangeAspect="1"/>
          </p:cNvPicPr>
          <p:nvPr/>
        </p:nvPicPr>
        <p:blipFill>
          <a:blip r:embed="rId4"/>
          <a:stretch>
            <a:fillRect/>
          </a:stretch>
        </p:blipFill>
        <p:spPr>
          <a:xfrm>
            <a:off x="6097951" y="1461943"/>
            <a:ext cx="294803" cy="294803"/>
          </a:xfrm>
          <a:prstGeom prst="rect">
            <a:avLst/>
          </a:prstGeom>
        </p:spPr>
      </p:pic>
      <p:sp>
        <p:nvSpPr>
          <p:cNvPr id="20" name="Step arrow 4"/>
          <p:cNvSpPr/>
          <p:nvPr/>
        </p:nvSpPr>
        <p:spPr>
          <a:xfrm>
            <a:off x="6601968" y="1609344"/>
            <a:ext cx="969264" cy="0"/>
          </a:xfrm>
          <a:prstGeom prst="line">
            <a:avLst/>
          </a:prstGeom>
          <a:noFill/>
          <a:ln w="19050">
            <a:solidFill>
              <a:srgbClr val="A8CBB7"/>
            </a:solidFill>
            <a:prstDash val="solid"/>
            <a:tailEnd type="triangle"/>
          </a:ln>
        </p:spPr>
      </p:sp>
      <p:sp>
        <p:nvSpPr>
          <p:cNvPr id="21" name="Step title Break-even"/>
          <p:cNvSpPr txBox="1"/>
          <p:nvPr/>
        </p:nvSpPr>
        <p:spPr>
          <a:xfrm>
            <a:off x="5504688" y="2011680"/>
            <a:ext cx="1481328" cy="365760"/>
          </a:xfrm>
          <a:prstGeom prst="rect">
            <a:avLst/>
          </a:prstGeom>
          <a:noFill/>
          <a:ln/>
        </p:spPr>
        <p:txBody>
          <a:bodyPr wrap="square" lIns="0" tIns="0" rIns="0" bIns="0" rtlCol="0" anchor="ctr"/>
          <a:lstStyle/>
          <a:p>
            <a:pPr algn="ctr" indent="0" marL="0">
              <a:buNone/>
            </a:pPr>
            <a:r>
              <a:rPr lang="en-US" sz="1500" b="1" dirty="0">
                <a:solidFill>
                  <a:schemeClr val="tx1"/>
                </a:solidFill>
              </a:rPr>
              <a:t>4. Break-even</a:t>
            </a:r>
            <a:endParaRPr lang="en-US" sz="1500" dirty="0"/>
          </a:p>
        </p:txBody>
      </p:sp>
      <p:sp>
        <p:nvSpPr>
          <p:cNvPr id="22" name="Step text Break-even"/>
          <p:cNvSpPr txBox="1"/>
          <p:nvPr/>
        </p:nvSpPr>
        <p:spPr>
          <a:xfrm>
            <a:off x="5504688"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Fixed cost a day ÷ profit per order</a:t>
            </a:r>
            <a:endParaRPr lang="en-US" sz="1200" dirty="0"/>
          </a:p>
        </p:txBody>
      </p:sp>
      <p:sp>
        <p:nvSpPr>
          <p:cNvPr id="23" name="Step Checks disc"/>
          <p:cNvSpPr/>
          <p:nvPr/>
        </p:nvSpPr>
        <p:spPr>
          <a:xfrm>
            <a:off x="7644384" y="1325880"/>
            <a:ext cx="566928" cy="566928"/>
          </a:xfrm>
          <a:prstGeom prst="ellipse">
            <a:avLst/>
          </a:prstGeom>
          <a:solidFill>
            <a:schemeClr val="accent2"/>
          </a:solidFill>
          <a:ln w="12700">
            <a:solidFill>
              <a:schemeClr val="accent2"/>
            </a:solidFill>
            <a:prstDash val="solid"/>
          </a:ln>
        </p:spPr>
      </p:sp>
      <p:pic>
        <p:nvPicPr>
          <p:cNvPr id="24" name="Step Checks icon" descr="Step Checks">    </p:cNvPr>
          <p:cNvPicPr>
            <a:picLocks noChangeAspect="1"/>
          </p:cNvPicPr>
          <p:nvPr/>
        </p:nvPicPr>
        <p:blipFill>
          <a:blip r:embed="rId5"/>
          <a:stretch>
            <a:fillRect/>
          </a:stretch>
        </p:blipFill>
        <p:spPr>
          <a:xfrm>
            <a:off x="7780447" y="1461943"/>
            <a:ext cx="294803" cy="294803"/>
          </a:xfrm>
          <a:prstGeom prst="rect">
            <a:avLst/>
          </a:prstGeom>
        </p:spPr>
      </p:pic>
      <p:sp>
        <p:nvSpPr>
          <p:cNvPr id="25" name="Step title Checks"/>
          <p:cNvSpPr txBox="1"/>
          <p:nvPr/>
        </p:nvSpPr>
        <p:spPr>
          <a:xfrm>
            <a:off x="7187184" y="2011680"/>
            <a:ext cx="1481328" cy="365760"/>
          </a:xfrm>
          <a:prstGeom prst="rect">
            <a:avLst/>
          </a:prstGeom>
          <a:noFill/>
          <a:ln/>
        </p:spPr>
        <p:txBody>
          <a:bodyPr wrap="square" lIns="0" tIns="0" rIns="0" bIns="0" rtlCol="0" anchor="ctr"/>
          <a:lstStyle/>
          <a:p>
            <a:pPr algn="ctr" indent="0" marL="0">
              <a:buNone/>
            </a:pPr>
            <a:r>
              <a:rPr lang="en-US" sz="1500" b="1" dirty="0">
                <a:solidFill>
                  <a:schemeClr val="tx1"/>
                </a:solidFill>
              </a:rPr>
              <a:t>5. Checks</a:t>
            </a:r>
            <a:endParaRPr lang="en-US" sz="1500" dirty="0"/>
          </a:p>
        </p:txBody>
      </p:sp>
      <p:sp>
        <p:nvSpPr>
          <p:cNvPr id="26" name="Step text Checks"/>
          <p:cNvSpPr txBox="1"/>
          <p:nvPr/>
        </p:nvSpPr>
        <p:spPr>
          <a:xfrm>
            <a:off x="7187184" y="2395728"/>
            <a:ext cx="1481328" cy="777240"/>
          </a:xfrm>
          <a:prstGeom prst="rect">
            <a:avLst/>
          </a:prstGeom>
          <a:noFill/>
          <a:ln/>
        </p:spPr>
        <p:txBody>
          <a:bodyPr wrap="square" lIns="0" tIns="0" rIns="0" bIns="0" rtlCol="0" anchor="t"/>
          <a:lstStyle/>
          <a:p>
            <a:pPr algn="ctr" indent="0" marL="0">
              <a:buNone/>
            </a:pPr>
            <a:r>
              <a:rPr lang="en-US" sz="1200" dirty="0">
                <a:solidFill>
                  <a:schemeClr val="accent4"/>
                </a:solidFill>
              </a:rPr>
              <a:t>9 checks must read ALL PASS</a:t>
            </a:r>
            <a:endParaRPr lang="en-US" sz="1200" dirty="0"/>
          </a:p>
        </p:txBody>
      </p:sp>
      <p:sp>
        <p:nvSpPr>
          <p:cNvPr id="27" name="Data card"/>
          <p:cNvSpPr/>
          <p:nvPr/>
        </p:nvSpPr>
        <p:spPr>
          <a:xfrm>
            <a:off x="457200" y="3337560"/>
            <a:ext cx="8229600" cy="1188720"/>
          </a:xfrm>
          <a:prstGeom prst="roundRect">
            <a:avLst>
              <a:gd name="adj" fmla="val 6154"/>
            </a:avLst>
          </a:prstGeom>
          <a:solidFill>
            <a:schemeClr val="bg2"/>
          </a:solidFill>
          <a:ln w="12700">
            <a:solidFill>
              <a:schemeClr val="bg2"/>
            </a:solidFill>
            <a:prstDash val="solid"/>
          </a:ln>
        </p:spPr>
      </p:sp>
      <p:sp>
        <p:nvSpPr>
          <p:cNvPr id="28" name="Data text"/>
          <p:cNvSpPr txBox="1"/>
          <p:nvPr/>
        </p:nvSpPr>
        <p:spPr>
          <a:xfrm>
            <a:off x="685800" y="3429000"/>
            <a:ext cx="7772400" cy="1005840"/>
          </a:xfrm>
          <a:prstGeom prst="rect">
            <a:avLst/>
          </a:prstGeom>
          <a:noFill/>
          <a:ln/>
        </p:spPr>
        <p:txBody>
          <a:bodyPr wrap="square" lIns="0" tIns="0" rIns="0" bIns="0" rtlCol="0" anchor="ctr"/>
          <a:lstStyle/>
          <a:p>
            <a:pPr indent="0" marL="0">
              <a:spcAft>
                <a:spcPts val="500"/>
              </a:spcAft>
              <a:buNone/>
            </a:pPr>
            <a:r>
              <a:rPr lang="en-US" sz="1250" b="1" dirty="0">
                <a:solidFill>
                  <a:schemeClr val="tx1"/>
                </a:solidFill>
              </a:rPr>
              <a:t>Disclosed (Q1 FY27): </a:t>
            </a:r>
            <a:pPr indent="0" marL="0">
              <a:spcAft>
                <a:spcPts val="500"/>
              </a:spcAft>
              <a:buNone/>
            </a:pPr>
            <a:r>
              <a:rPr lang="en-US" sz="1250" dirty="0">
                <a:solidFill>
                  <a:schemeClr val="tx1"/>
                </a:solidFill>
              </a:rPr>
              <a:t>₹7,907 crore order value · 114.5M orders · ₹691 basket · ₹108 revenue per order · −0.2% margin · 1,171 stores.</a:t>
            </a:r>
            <a:endParaRPr lang="en-US" sz="1250" dirty="0"/>
          </a:p>
          <a:p>
            <a:pPr indent="0" marL="0">
              <a:spcAft>
                <a:spcPts val="500"/>
              </a:spcAft>
              <a:buNone/>
            </a:pPr>
            <a:r>
              <a:rPr lang="en-US" sz="1250" b="1" dirty="0">
                <a:solidFill>
                  <a:schemeClr val="tx1"/>
                </a:solidFill>
              </a:rPr>
              <a:t>Assumed, in yellow cells: </a:t>
            </a:r>
            <a:pPr indent="0" marL="0">
              <a:spcAft>
                <a:spcPts val="500"/>
              </a:spcAft>
              <a:buNone/>
            </a:pPr>
            <a:r>
              <a:rPr lang="en-US" sz="1250" dirty="0">
                <a:solidFill>
                  <a:schemeClr val="accent4"/>
                </a:solidFill>
              </a:rPr>
              <a:t>the cost split (rider ₹45, picking ₹15, packaging ₹6 per order), fees, ad income and discounts. Change one and the whole workbook updates.</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One order earns ₹108 and costs ₹109.38</a:t>
            </a:r>
            <a:endParaRPr lang="en-US" sz="2600" dirty="0"/>
          </a:p>
        </p:txBody>
      </p:sp>
      <p:graphicFrame>
        <p:nvGraphicFramePr>
          <p:cNvPr id="3" name="Revenue vs cost chart" descr=""/>
          <p:cNvGraphicFramePr/>
          <p:nvPr/>
        </p:nvGraphicFramePr>
        <p:xfrm>
          <a:off x="457200" y="1097280"/>
          <a:ext cx="4572000" cy="2377440"/>
        </p:xfrm>
        <a:graphic xmlns:a="http://schemas.openxmlformats.org/drawingml/2006/main">
          <a:graphicData uri="http://schemas.openxmlformats.org/drawingml/2006/chart">
            <c:chart xmlns:c="http://schemas.openxmlformats.org/drawingml/2006/chart" r:id="rId1"/>
          </a:graphicData>
        </a:graphic>
      </p:graphicFrame>
      <p:sp>
        <p:nvSpPr>
          <p:cNvPr id="4" name="Ladder label 1"/>
          <p:cNvSpPr txBox="1"/>
          <p:nvPr/>
        </p:nvSpPr>
        <p:spPr>
          <a:xfrm>
            <a:off x="5349240" y="1115568"/>
            <a:ext cx="2514600" cy="347472"/>
          </a:xfrm>
          <a:prstGeom prst="rect">
            <a:avLst/>
          </a:prstGeom>
          <a:noFill/>
          <a:ln/>
        </p:spPr>
        <p:txBody>
          <a:bodyPr wrap="square" lIns="0" tIns="0" rIns="0" bIns="0" rtlCol="0" anchor="ctr"/>
          <a:lstStyle/>
          <a:p>
            <a:pPr indent="0" marL="0">
              <a:buNone/>
            </a:pPr>
            <a:r>
              <a:rPr lang="en-US" sz="1100" dirty="0">
                <a:solidFill>
                  <a:schemeClr val="tx1"/>
                </a:solidFill>
              </a:rPr>
              <a:t>Basket (average order value)</a:t>
            </a:r>
            <a:endParaRPr lang="en-US" sz="1100" dirty="0"/>
          </a:p>
        </p:txBody>
      </p:sp>
      <p:sp>
        <p:nvSpPr>
          <p:cNvPr id="5" name="Ladder value 1"/>
          <p:cNvSpPr txBox="1"/>
          <p:nvPr/>
        </p:nvSpPr>
        <p:spPr>
          <a:xfrm>
            <a:off x="7818120" y="1115568"/>
            <a:ext cx="822960" cy="347472"/>
          </a:xfrm>
          <a:prstGeom prst="rect">
            <a:avLst/>
          </a:prstGeom>
          <a:noFill/>
          <a:ln/>
        </p:spPr>
        <p:txBody>
          <a:bodyPr wrap="square" lIns="0" tIns="0" rIns="0" bIns="0" rtlCol="0" anchor="ctr"/>
          <a:lstStyle/>
          <a:p>
            <a:pPr algn="r" indent="0" marL="0">
              <a:buNone/>
            </a:pPr>
            <a:r>
              <a:rPr lang="en-US" sz="1300" b="1" dirty="0">
                <a:solidFill>
                  <a:schemeClr val="tx1"/>
                </a:solidFill>
              </a:rPr>
              <a:t>₹691</a:t>
            </a:r>
            <a:endParaRPr lang="en-US" sz="1300" dirty="0"/>
          </a:p>
        </p:txBody>
      </p:sp>
      <p:sp>
        <p:nvSpPr>
          <p:cNvPr id="6" name="Ladder band 2"/>
          <p:cNvSpPr/>
          <p:nvPr/>
        </p:nvSpPr>
        <p:spPr>
          <a:xfrm>
            <a:off x="5257800" y="1517904"/>
            <a:ext cx="3429000" cy="402336"/>
          </a:xfrm>
          <a:prstGeom prst="rect">
            <a:avLst/>
          </a:prstGeom>
          <a:solidFill>
            <a:schemeClr val="bg2"/>
          </a:solidFill>
          <a:ln w="12700">
            <a:solidFill>
              <a:schemeClr val="bg2"/>
            </a:solidFill>
            <a:prstDash val="solid"/>
          </a:ln>
        </p:spPr>
      </p:sp>
      <p:sp>
        <p:nvSpPr>
          <p:cNvPr id="7" name="Ladder label 2"/>
          <p:cNvSpPr txBox="1"/>
          <p:nvPr/>
        </p:nvSpPr>
        <p:spPr>
          <a:xfrm>
            <a:off x="5349240" y="1545336"/>
            <a:ext cx="2514600" cy="347472"/>
          </a:xfrm>
          <a:prstGeom prst="rect">
            <a:avLst/>
          </a:prstGeom>
          <a:noFill/>
          <a:ln/>
        </p:spPr>
        <p:txBody>
          <a:bodyPr wrap="square" lIns="0" tIns="0" rIns="0" bIns="0" rtlCol="0" anchor="ctr"/>
          <a:lstStyle/>
          <a:p>
            <a:pPr indent="0" marL="0">
              <a:buNone/>
            </a:pPr>
            <a:r>
              <a:rPr lang="en-US" sz="1100" b="1" dirty="0">
                <a:solidFill>
                  <a:schemeClr val="tx1"/>
                </a:solidFill>
              </a:rPr>
              <a:t>Revenue: margin 92 + fee 12 + ads 10 − discount 6</a:t>
            </a:r>
            <a:endParaRPr lang="en-US" sz="1100" dirty="0"/>
          </a:p>
        </p:txBody>
      </p:sp>
      <p:sp>
        <p:nvSpPr>
          <p:cNvPr id="8" name="Ladder value 2"/>
          <p:cNvSpPr txBox="1"/>
          <p:nvPr/>
        </p:nvSpPr>
        <p:spPr>
          <a:xfrm>
            <a:off x="7818120" y="1545336"/>
            <a:ext cx="822960" cy="347472"/>
          </a:xfrm>
          <a:prstGeom prst="rect">
            <a:avLst/>
          </a:prstGeom>
          <a:noFill/>
          <a:ln/>
        </p:spPr>
        <p:txBody>
          <a:bodyPr wrap="square" lIns="0" tIns="0" rIns="0" bIns="0" rtlCol="0" anchor="ctr"/>
          <a:lstStyle/>
          <a:p>
            <a:pPr algn="r" indent="0" marL="0">
              <a:buNone/>
            </a:pPr>
            <a:r>
              <a:rPr lang="en-US" sz="1300" b="1" dirty="0">
                <a:solidFill>
                  <a:schemeClr val="tx1"/>
                </a:solidFill>
              </a:rPr>
              <a:t>₹108.00</a:t>
            </a:r>
            <a:endParaRPr lang="en-US" sz="1300" dirty="0"/>
          </a:p>
        </p:txBody>
      </p:sp>
      <p:sp>
        <p:nvSpPr>
          <p:cNvPr id="9" name="Ladder label 3"/>
          <p:cNvSpPr txBox="1"/>
          <p:nvPr/>
        </p:nvSpPr>
        <p:spPr>
          <a:xfrm>
            <a:off x="5349240" y="1975104"/>
            <a:ext cx="2514600" cy="347472"/>
          </a:xfrm>
          <a:prstGeom prst="rect">
            <a:avLst/>
          </a:prstGeom>
          <a:noFill/>
          <a:ln/>
        </p:spPr>
        <p:txBody>
          <a:bodyPr wrap="square" lIns="0" tIns="0" rIns="0" bIns="0" rtlCol="0" anchor="ctr"/>
          <a:lstStyle/>
          <a:p>
            <a:pPr indent="0" marL="0">
              <a:buNone/>
            </a:pPr>
            <a:r>
              <a:rPr lang="en-US" sz="1100" dirty="0">
                <a:solidFill>
                  <a:schemeClr val="tx1"/>
                </a:solidFill>
              </a:rPr>
              <a:t>Variable: rider 45, picking 15, packaging 6, payment 8.3, wastage 8.3</a:t>
            </a:r>
            <a:endParaRPr lang="en-US" sz="1100" dirty="0"/>
          </a:p>
        </p:txBody>
      </p:sp>
      <p:sp>
        <p:nvSpPr>
          <p:cNvPr id="10" name="Ladder value 3"/>
          <p:cNvSpPr txBox="1"/>
          <p:nvPr/>
        </p:nvSpPr>
        <p:spPr>
          <a:xfrm>
            <a:off x="7818120" y="1975104"/>
            <a:ext cx="822960" cy="347472"/>
          </a:xfrm>
          <a:prstGeom prst="rect">
            <a:avLst/>
          </a:prstGeom>
          <a:noFill/>
          <a:ln/>
        </p:spPr>
        <p:txBody>
          <a:bodyPr wrap="square" lIns="0" tIns="0" rIns="0" bIns="0" rtlCol="0" anchor="ctr"/>
          <a:lstStyle/>
          <a:p>
            <a:pPr algn="r" indent="0" marL="0">
              <a:buNone/>
            </a:pPr>
            <a:r>
              <a:rPr lang="en-US" sz="1300" b="1" dirty="0">
                <a:solidFill>
                  <a:schemeClr val="tx1"/>
                </a:solidFill>
              </a:rPr>
              <a:t>−₹82.58</a:t>
            </a:r>
            <a:endParaRPr lang="en-US" sz="1300" dirty="0"/>
          </a:p>
        </p:txBody>
      </p:sp>
      <p:sp>
        <p:nvSpPr>
          <p:cNvPr id="11" name="Ladder band 4"/>
          <p:cNvSpPr/>
          <p:nvPr/>
        </p:nvSpPr>
        <p:spPr>
          <a:xfrm>
            <a:off x="5257800" y="2377440"/>
            <a:ext cx="3429000" cy="402336"/>
          </a:xfrm>
          <a:prstGeom prst="rect">
            <a:avLst/>
          </a:prstGeom>
          <a:solidFill>
            <a:schemeClr val="bg2"/>
          </a:solidFill>
          <a:ln w="12700">
            <a:solidFill>
              <a:schemeClr val="bg2"/>
            </a:solidFill>
            <a:prstDash val="solid"/>
          </a:ln>
        </p:spPr>
      </p:sp>
      <p:sp>
        <p:nvSpPr>
          <p:cNvPr id="12" name="Ladder label 4"/>
          <p:cNvSpPr txBox="1"/>
          <p:nvPr/>
        </p:nvSpPr>
        <p:spPr>
          <a:xfrm>
            <a:off x="5349240" y="2404872"/>
            <a:ext cx="2514600" cy="347472"/>
          </a:xfrm>
          <a:prstGeom prst="rect">
            <a:avLst/>
          </a:prstGeom>
          <a:noFill/>
          <a:ln/>
        </p:spPr>
        <p:txBody>
          <a:bodyPr wrap="square" lIns="0" tIns="0" rIns="0" bIns="0" rtlCol="0" anchor="ctr"/>
          <a:lstStyle/>
          <a:p>
            <a:pPr indent="0" marL="0">
              <a:buNone/>
            </a:pPr>
            <a:r>
              <a:rPr lang="en-US" sz="1100" b="1" dirty="0">
                <a:solidFill>
                  <a:schemeClr val="tx1"/>
                </a:solidFill>
              </a:rPr>
              <a:t>Profit per order before fixed cost</a:t>
            </a:r>
            <a:endParaRPr lang="en-US" sz="1100" dirty="0"/>
          </a:p>
        </p:txBody>
      </p:sp>
      <p:sp>
        <p:nvSpPr>
          <p:cNvPr id="13" name="Ladder value 4"/>
          <p:cNvSpPr txBox="1"/>
          <p:nvPr/>
        </p:nvSpPr>
        <p:spPr>
          <a:xfrm>
            <a:off x="7818120" y="2404872"/>
            <a:ext cx="822960" cy="347472"/>
          </a:xfrm>
          <a:prstGeom prst="rect">
            <a:avLst/>
          </a:prstGeom>
          <a:noFill/>
          <a:ln/>
        </p:spPr>
        <p:txBody>
          <a:bodyPr wrap="square" lIns="0" tIns="0" rIns="0" bIns="0" rtlCol="0" anchor="ctr"/>
          <a:lstStyle/>
          <a:p>
            <a:pPr algn="r" indent="0" marL="0">
              <a:buNone/>
            </a:pPr>
            <a:r>
              <a:rPr lang="en-US" sz="1300" b="1" dirty="0">
                <a:solidFill>
                  <a:schemeClr val="tx1"/>
                </a:solidFill>
              </a:rPr>
              <a:t>₹25.42</a:t>
            </a:r>
            <a:endParaRPr lang="en-US" sz="1300" dirty="0"/>
          </a:p>
        </p:txBody>
      </p:sp>
      <p:sp>
        <p:nvSpPr>
          <p:cNvPr id="14" name="Ladder label 5"/>
          <p:cNvSpPr txBox="1"/>
          <p:nvPr/>
        </p:nvSpPr>
        <p:spPr>
          <a:xfrm>
            <a:off x="5349240" y="2834640"/>
            <a:ext cx="2514600" cy="347472"/>
          </a:xfrm>
          <a:prstGeom prst="rect">
            <a:avLst/>
          </a:prstGeom>
          <a:noFill/>
          <a:ln/>
        </p:spPr>
        <p:txBody>
          <a:bodyPr wrap="square" lIns="0" tIns="0" rIns="0" bIns="0" rtlCol="0" anchor="ctr"/>
          <a:lstStyle/>
          <a:p>
            <a:pPr indent="0" marL="0">
              <a:buNone/>
            </a:pPr>
            <a:r>
              <a:rPr lang="en-US" sz="1100" dirty="0">
                <a:solidFill>
                  <a:schemeClr val="tx1"/>
                </a:solidFill>
              </a:rPr>
              <a:t>Fixed cost per order at today's volume</a:t>
            </a:r>
            <a:endParaRPr lang="en-US" sz="1100" dirty="0"/>
          </a:p>
        </p:txBody>
      </p:sp>
      <p:sp>
        <p:nvSpPr>
          <p:cNvPr id="15" name="Ladder value 5"/>
          <p:cNvSpPr txBox="1"/>
          <p:nvPr/>
        </p:nvSpPr>
        <p:spPr>
          <a:xfrm>
            <a:off x="7818120" y="2834640"/>
            <a:ext cx="822960" cy="347472"/>
          </a:xfrm>
          <a:prstGeom prst="rect">
            <a:avLst/>
          </a:prstGeom>
          <a:noFill/>
          <a:ln/>
        </p:spPr>
        <p:txBody>
          <a:bodyPr wrap="square" lIns="0" tIns="0" rIns="0" bIns="0" rtlCol="0" anchor="ctr"/>
          <a:lstStyle/>
          <a:p>
            <a:pPr algn="r" indent="0" marL="0">
              <a:buNone/>
            </a:pPr>
            <a:r>
              <a:rPr lang="en-US" sz="1300" b="1" dirty="0">
                <a:solidFill>
                  <a:schemeClr val="tx1"/>
                </a:solidFill>
              </a:rPr>
              <a:t>−₹26.80</a:t>
            </a:r>
            <a:endParaRPr lang="en-US" sz="1300" dirty="0"/>
          </a:p>
        </p:txBody>
      </p:sp>
      <p:sp>
        <p:nvSpPr>
          <p:cNvPr id="16" name="Ladder band 6"/>
          <p:cNvSpPr/>
          <p:nvPr/>
        </p:nvSpPr>
        <p:spPr>
          <a:xfrm>
            <a:off x="5257800" y="3236976"/>
            <a:ext cx="3429000" cy="402336"/>
          </a:xfrm>
          <a:prstGeom prst="rect">
            <a:avLst/>
          </a:prstGeom>
          <a:solidFill>
            <a:schemeClr val="bg2"/>
          </a:solidFill>
          <a:ln w="12700">
            <a:solidFill>
              <a:schemeClr val="bg2"/>
            </a:solidFill>
            <a:prstDash val="solid"/>
          </a:ln>
        </p:spPr>
      </p:sp>
      <p:sp>
        <p:nvSpPr>
          <p:cNvPr id="17" name="Ladder label 6"/>
          <p:cNvSpPr txBox="1"/>
          <p:nvPr/>
        </p:nvSpPr>
        <p:spPr>
          <a:xfrm>
            <a:off x="5349240" y="3264408"/>
            <a:ext cx="2514600" cy="347472"/>
          </a:xfrm>
          <a:prstGeom prst="rect">
            <a:avLst/>
          </a:prstGeom>
          <a:noFill/>
          <a:ln/>
        </p:spPr>
        <p:txBody>
          <a:bodyPr wrap="square" lIns="0" tIns="0" rIns="0" bIns="0" rtlCol="0" anchor="ctr"/>
          <a:lstStyle/>
          <a:p>
            <a:pPr indent="0" marL="0">
              <a:buNone/>
            </a:pPr>
            <a:r>
              <a:rPr lang="en-US" sz="1100" b="1" dirty="0">
                <a:solidFill>
                  <a:schemeClr val="tx1"/>
                </a:solidFill>
              </a:rPr>
              <a:t>Result per order (−0.2% of the basket)</a:t>
            </a:r>
            <a:endParaRPr lang="en-US" sz="1100" dirty="0"/>
          </a:p>
        </p:txBody>
      </p:sp>
      <p:sp>
        <p:nvSpPr>
          <p:cNvPr id="18" name="Ladder value 6"/>
          <p:cNvSpPr txBox="1"/>
          <p:nvPr/>
        </p:nvSpPr>
        <p:spPr>
          <a:xfrm>
            <a:off x="7818120" y="3264408"/>
            <a:ext cx="822960" cy="347472"/>
          </a:xfrm>
          <a:prstGeom prst="rect">
            <a:avLst/>
          </a:prstGeom>
          <a:noFill/>
          <a:ln/>
        </p:spPr>
        <p:txBody>
          <a:bodyPr wrap="square" lIns="0" tIns="0" rIns="0" bIns="0" rtlCol="0" anchor="ctr"/>
          <a:lstStyle/>
          <a:p>
            <a:pPr algn="r" indent="0" marL="0">
              <a:buNone/>
            </a:pPr>
            <a:r>
              <a:rPr lang="en-US" sz="1300" b="1" dirty="0">
                <a:solidFill>
                  <a:schemeClr val="accent1"/>
                </a:solidFill>
              </a:rPr>
              <a:t>−₹1.38</a:t>
            </a:r>
            <a:endParaRPr lang="en-US" sz="1300" dirty="0"/>
          </a:p>
        </p:txBody>
      </p:sp>
      <p:sp>
        <p:nvSpPr>
          <p:cNvPr id="19" name="Fixed note"/>
          <p:cNvSpPr txBox="1"/>
          <p:nvPr/>
        </p:nvSpPr>
        <p:spPr>
          <a:xfrm>
            <a:off x="457200" y="3840480"/>
            <a:ext cx="4572000" cy="548640"/>
          </a:xfrm>
          <a:prstGeom prst="rect">
            <a:avLst/>
          </a:prstGeom>
          <a:noFill/>
          <a:ln/>
        </p:spPr>
        <p:txBody>
          <a:bodyPr wrap="square" lIns="0" tIns="0" rIns="0" bIns="0" rtlCol="0" anchor="t"/>
          <a:lstStyle/>
          <a:p>
            <a:pPr indent="0" marL="0">
              <a:buNone/>
            </a:pPr>
            <a:r>
              <a:rPr lang="en-US" sz="1200" i="1" dirty="0">
                <a:solidFill>
                  <a:schemeClr val="accent4"/>
                </a:solidFill>
              </a:rPr>
              <a:t>Fixed cost: rent, staff and power, about ₹8.6 lakh per store per month, spread over ~1,075 orders a day.</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Each extra order adds ₹25; 58 more a day breaks even</a:t>
            </a:r>
            <a:endParaRPr lang="en-US" sz="2600" dirty="0"/>
          </a:p>
        </p:txBody>
      </p:sp>
      <p:graphicFrame>
        <p:nvGraphicFramePr>
          <p:cNvPr id="3" name="Break-even chart" descr=""/>
          <p:cNvGraphicFramePr/>
          <p:nvPr/>
        </p:nvGraphicFramePr>
        <p:xfrm>
          <a:off x="457200" y="109728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4" name="BE stat 1"/>
          <p:cNvSpPr txBox="1"/>
          <p:nvPr/>
        </p:nvSpPr>
        <p:spPr>
          <a:xfrm>
            <a:off x="6172200" y="1188720"/>
            <a:ext cx="2560320" cy="502920"/>
          </a:xfrm>
          <a:prstGeom prst="rect">
            <a:avLst/>
          </a:prstGeom>
          <a:noFill/>
          <a:ln/>
        </p:spPr>
        <p:txBody>
          <a:bodyPr wrap="square" lIns="0" tIns="0" rIns="0" bIns="0" rtlCol="0" anchor="ctr"/>
          <a:lstStyle/>
          <a:p>
            <a:pPr indent="0" marL="0">
              <a:buNone/>
            </a:pPr>
            <a:r>
              <a:rPr lang="en-US" sz="3000" b="1" dirty="0">
                <a:solidFill>
                  <a:schemeClr val="accent1"/>
                </a:solidFill>
              </a:rPr>
              <a:t>~1,075</a:t>
            </a:r>
            <a:endParaRPr lang="en-US" sz="3000" dirty="0"/>
          </a:p>
        </p:txBody>
      </p:sp>
      <p:sp>
        <p:nvSpPr>
          <p:cNvPr id="5" name="BE text 1"/>
          <p:cNvSpPr txBox="1"/>
          <p:nvPr/>
        </p:nvSpPr>
        <p:spPr>
          <a:xfrm>
            <a:off x="6172200" y="1700784"/>
            <a:ext cx="2560320" cy="457200"/>
          </a:xfrm>
          <a:prstGeom prst="rect">
            <a:avLst/>
          </a:prstGeom>
          <a:noFill/>
          <a:ln/>
        </p:spPr>
        <p:txBody>
          <a:bodyPr wrap="square" lIns="0" tIns="0" rIns="0" bIns="0" rtlCol="0" anchor="t"/>
          <a:lstStyle/>
          <a:p>
            <a:pPr indent="0" marL="0">
              <a:buNone/>
            </a:pPr>
            <a:r>
              <a:rPr lang="en-US" sz="1300" dirty="0">
                <a:solidFill>
                  <a:schemeClr val="accent4"/>
                </a:solidFill>
              </a:rPr>
              <a:t>orders a day today: −₹1,485 a day per store</a:t>
            </a:r>
            <a:endParaRPr lang="en-US" sz="1300" dirty="0"/>
          </a:p>
        </p:txBody>
      </p:sp>
      <p:sp>
        <p:nvSpPr>
          <p:cNvPr id="6" name="BE stat 2"/>
          <p:cNvSpPr txBox="1"/>
          <p:nvPr/>
        </p:nvSpPr>
        <p:spPr>
          <a:xfrm>
            <a:off x="6172200" y="2267712"/>
            <a:ext cx="2560320" cy="502920"/>
          </a:xfrm>
          <a:prstGeom prst="rect">
            <a:avLst/>
          </a:prstGeom>
          <a:noFill/>
          <a:ln/>
        </p:spPr>
        <p:txBody>
          <a:bodyPr wrap="square" lIns="0" tIns="0" rIns="0" bIns="0" rtlCol="0" anchor="ctr"/>
          <a:lstStyle/>
          <a:p>
            <a:pPr indent="0" marL="0">
              <a:buNone/>
            </a:pPr>
            <a:r>
              <a:rPr lang="en-US" sz="3000" b="1" dirty="0">
                <a:solidFill>
                  <a:schemeClr val="tx1"/>
                </a:solidFill>
              </a:rPr>
              <a:t>1,133</a:t>
            </a:r>
            <a:endParaRPr lang="en-US" sz="3000" dirty="0"/>
          </a:p>
        </p:txBody>
      </p:sp>
      <p:sp>
        <p:nvSpPr>
          <p:cNvPr id="7" name="BE text 2"/>
          <p:cNvSpPr txBox="1"/>
          <p:nvPr/>
        </p:nvSpPr>
        <p:spPr>
          <a:xfrm>
            <a:off x="6172200" y="2779776"/>
            <a:ext cx="2560320" cy="457200"/>
          </a:xfrm>
          <a:prstGeom prst="rect">
            <a:avLst/>
          </a:prstGeom>
          <a:noFill/>
          <a:ln/>
        </p:spPr>
        <p:txBody>
          <a:bodyPr wrap="square" lIns="0" tIns="0" rIns="0" bIns="0" rtlCol="0" anchor="t"/>
          <a:lstStyle/>
          <a:p>
            <a:pPr indent="0" marL="0">
              <a:buNone/>
            </a:pPr>
            <a:r>
              <a:rPr lang="en-US" sz="1300" dirty="0">
                <a:solidFill>
                  <a:schemeClr val="accent4"/>
                </a:solidFill>
              </a:rPr>
              <a:t>orders a day to break even: profit crosses ₹0</a:t>
            </a:r>
            <a:endParaRPr lang="en-US" sz="1300" dirty="0"/>
          </a:p>
        </p:txBody>
      </p:sp>
      <p:sp>
        <p:nvSpPr>
          <p:cNvPr id="8" name="BE stat 3"/>
          <p:cNvSpPr txBox="1"/>
          <p:nvPr/>
        </p:nvSpPr>
        <p:spPr>
          <a:xfrm>
            <a:off x="6172200" y="3346704"/>
            <a:ext cx="2560320" cy="502920"/>
          </a:xfrm>
          <a:prstGeom prst="rect">
            <a:avLst/>
          </a:prstGeom>
          <a:noFill/>
          <a:ln/>
        </p:spPr>
        <p:txBody>
          <a:bodyPr wrap="square" lIns="0" tIns="0" rIns="0" bIns="0" rtlCol="0" anchor="ctr"/>
          <a:lstStyle/>
          <a:p>
            <a:pPr indent="0" marL="0">
              <a:buNone/>
            </a:pPr>
            <a:r>
              <a:rPr lang="en-US" sz="3000" b="1" dirty="0">
                <a:solidFill>
                  <a:schemeClr val="accent2"/>
                </a:solidFill>
              </a:rPr>
              <a:t>₹25.42</a:t>
            </a:r>
            <a:endParaRPr lang="en-US" sz="3000" dirty="0"/>
          </a:p>
        </p:txBody>
      </p:sp>
      <p:sp>
        <p:nvSpPr>
          <p:cNvPr id="9" name="BE text 3"/>
          <p:cNvSpPr txBox="1"/>
          <p:nvPr/>
        </p:nvSpPr>
        <p:spPr>
          <a:xfrm>
            <a:off x="6172200" y="3858768"/>
            <a:ext cx="2560320" cy="457200"/>
          </a:xfrm>
          <a:prstGeom prst="rect">
            <a:avLst/>
          </a:prstGeom>
          <a:noFill/>
          <a:ln/>
        </p:spPr>
        <p:txBody>
          <a:bodyPr wrap="square" lIns="0" tIns="0" rIns="0" bIns="0" rtlCol="0" anchor="t"/>
          <a:lstStyle/>
          <a:p>
            <a:pPr indent="0" marL="0">
              <a:buNone/>
            </a:pPr>
            <a:r>
              <a:rPr lang="en-US" sz="1300" dirty="0">
                <a:solidFill>
                  <a:schemeClr val="accent4"/>
                </a:solidFill>
              </a:rPr>
              <a:t>added by every extra order</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Basket size moves profit most, then rider cost</a:t>
            </a:r>
            <a:endParaRPr lang="en-US" sz="2600" dirty="0"/>
          </a:p>
        </p:txBody>
      </p:sp>
      <p:graphicFrame>
        <p:nvGraphicFramePr>
          <p:cNvPr id="3" name="Tornado chart" descr=""/>
          <p:cNvGraphicFramePr/>
          <p:nvPr/>
        </p:nvGraphicFramePr>
        <p:xfrm>
          <a:off x="457200" y="1051560"/>
          <a:ext cx="5669280" cy="3429000"/>
        </p:xfrm>
        <a:graphic xmlns:a="http://schemas.openxmlformats.org/drawingml/2006/main">
          <a:graphicData uri="http://schemas.openxmlformats.org/drawingml/2006/chart">
            <c:chart xmlns:c="http://schemas.openxmlformats.org/drawingml/2006/chart" r:id="rId1"/>
          </a:graphicData>
        </a:graphic>
      </p:graphicFrame>
      <p:sp>
        <p:nvSpPr>
          <p:cNvPr id="4" name="Tornado card"/>
          <p:cNvSpPr/>
          <p:nvPr/>
        </p:nvSpPr>
        <p:spPr>
          <a:xfrm>
            <a:off x="6355080" y="1143000"/>
            <a:ext cx="2331720" cy="3291840"/>
          </a:xfrm>
          <a:prstGeom prst="roundRect">
            <a:avLst>
              <a:gd name="adj" fmla="val 3137"/>
            </a:avLst>
          </a:prstGeom>
          <a:solidFill>
            <a:schemeClr val="bg2"/>
          </a:solidFill>
          <a:ln w="12700">
            <a:solidFill>
              <a:schemeClr val="bg2"/>
            </a:solidFill>
            <a:prstDash val="solid"/>
          </a:ln>
        </p:spPr>
      </p:sp>
      <p:sp>
        <p:nvSpPr>
          <p:cNvPr id="5" name="Tornado text"/>
          <p:cNvSpPr txBox="1"/>
          <p:nvPr/>
        </p:nvSpPr>
        <p:spPr>
          <a:xfrm>
            <a:off x="6537960" y="1280160"/>
            <a:ext cx="2011680" cy="3017520"/>
          </a:xfrm>
          <a:prstGeom prst="rect">
            <a:avLst/>
          </a:prstGeom>
          <a:noFill/>
          <a:ln/>
        </p:spPr>
        <p:txBody>
          <a:bodyPr wrap="square" lIns="0" tIns="0" rIns="0" bIns="0" rtlCol="0" anchor="t"/>
          <a:lstStyle/>
          <a:p>
            <a:pPr indent="0" marL="0">
              <a:buNone/>
            </a:pPr>
            <a:r>
              <a:rPr lang="en-US" sz="2400" b="1" dirty="0">
                <a:solidFill>
                  <a:schemeClr val="accent2"/>
                </a:solidFill>
              </a:rPr>
              <a:t>₹4.9 lakh</a:t>
            </a:r>
            <a:endParaRPr lang="en-US" sz="2400" dirty="0"/>
          </a:p>
          <a:p>
            <a:pPr indent="0" marL="0">
              <a:buNone/>
            </a:pPr>
            <a:r>
              <a:rPr lang="en-US" sz="1250" dirty="0">
                <a:solidFill>
                  <a:schemeClr val="tx1"/>
                </a:solidFill>
              </a:rPr>
              <a:t>swing per store per month from a 10% move in basket size, double most other levers.</a:t>
            </a:r>
            <a:endParaRPr lang="en-US" sz="2400" dirty="0"/>
          </a:p>
          <a:p>
            <a:pPr indent="0" marL="0">
              <a:buNone/>
            </a:pPr>
            <a:r>
              <a:rPr lang="en-US" sz="800" dirty="0">
                <a:solidFill>
                  <a:srgbClr val="000000"/>
                </a:solidFill>
              </a:rPr>
              <a:t> </a:t>
            </a:r>
            <a:endParaRPr lang="en-US" sz="2400" dirty="0"/>
          </a:p>
          <a:p>
            <a:pPr indent="0" marL="0">
              <a:buNone/>
            </a:pPr>
            <a:r>
              <a:rPr lang="en-US" sz="1250" dirty="0">
                <a:solidFill>
                  <a:schemeClr val="accent4"/>
                </a:solidFill>
              </a:rPr>
              <a:t>Volume ranks only fourth: a bigger basket earns more than more orders.</a:t>
            </a:r>
            <a:endParaRPr lang="en-US" sz="2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Small price moves beat chasing volume</a:t>
            </a:r>
            <a:endParaRPr lang="en-US" sz="2600" dirty="0"/>
          </a:p>
        </p:txBody>
      </p:sp>
      <p:graphicFrame>
        <p:nvGraphicFramePr>
          <p:cNvPr id="3" name="Scenarios chart" descr=""/>
          <p:cNvGraphicFramePr/>
          <p:nvPr/>
        </p:nvGraphicFramePr>
        <p:xfrm>
          <a:off x="457200" y="109728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4" name="Scenario head 1"/>
          <p:cNvSpPr txBox="1"/>
          <p:nvPr/>
        </p:nvSpPr>
        <p:spPr>
          <a:xfrm>
            <a:off x="5669280" y="1188720"/>
            <a:ext cx="3017520" cy="292608"/>
          </a:xfrm>
          <a:prstGeom prst="rect">
            <a:avLst/>
          </a:prstGeom>
          <a:noFill/>
          <a:ln/>
        </p:spPr>
        <p:txBody>
          <a:bodyPr wrap="square" lIns="0" tIns="0" rIns="0" bIns="0" rtlCol="0" anchor="ctr"/>
          <a:lstStyle/>
          <a:p>
            <a:pPr indent="0" marL="0">
              <a:buNone/>
            </a:pPr>
            <a:r>
              <a:rPr lang="en-US" sz="1500" b="1" dirty="0">
                <a:solidFill>
                  <a:schemeClr val="tx1"/>
                </a:solidFill>
              </a:rPr>
              <a:t>30% more orders</a:t>
            </a:r>
            <a:endParaRPr lang="en-US" sz="1500" dirty="0"/>
          </a:p>
        </p:txBody>
      </p:sp>
      <p:sp>
        <p:nvSpPr>
          <p:cNvPr id="5" name="Scenario text 1"/>
          <p:cNvSpPr txBox="1"/>
          <p:nvPr/>
        </p:nvSpPr>
        <p:spPr>
          <a:xfrm>
            <a:off x="5669280" y="1499616"/>
            <a:ext cx="3017520" cy="685800"/>
          </a:xfrm>
          <a:prstGeom prst="rect">
            <a:avLst/>
          </a:prstGeom>
          <a:noFill/>
          <a:ln/>
        </p:spPr>
        <p:txBody>
          <a:bodyPr wrap="square" lIns="0" tIns="0" rIns="0" bIns="0" rtlCol="0" anchor="t"/>
          <a:lstStyle/>
          <a:p>
            <a:pPr indent="0" marL="0">
              <a:buNone/>
            </a:pPr>
            <a:r>
              <a:rPr lang="en-US" sz="1250" dirty="0">
                <a:solidFill>
                  <a:schemeClr val="tx1"/>
                </a:solidFill>
              </a:rPr>
              <a:t>Denser stores, nothing else changes: +0.7% margin.</a:t>
            </a:r>
            <a:endParaRPr lang="en-US" sz="1250" dirty="0"/>
          </a:p>
        </p:txBody>
      </p:sp>
      <p:sp>
        <p:nvSpPr>
          <p:cNvPr id="6" name="Scenario head 2"/>
          <p:cNvSpPr txBox="1"/>
          <p:nvPr/>
        </p:nvSpPr>
        <p:spPr>
          <a:xfrm>
            <a:off x="5669280" y="2267712"/>
            <a:ext cx="3017520" cy="292608"/>
          </a:xfrm>
          <a:prstGeom prst="rect">
            <a:avLst/>
          </a:prstGeom>
          <a:noFill/>
          <a:ln/>
        </p:spPr>
        <p:txBody>
          <a:bodyPr wrap="square" lIns="0" tIns="0" rIns="0" bIns="0" rtlCol="0" anchor="ctr"/>
          <a:lstStyle/>
          <a:p>
            <a:pPr indent="0" marL="0">
              <a:buNone/>
            </a:pPr>
            <a:r>
              <a:rPr lang="en-US" sz="1500" b="1" dirty="0">
                <a:solidFill>
                  <a:schemeClr val="accent1"/>
                </a:solidFill>
              </a:rPr>
              <a:t>Discount war</a:t>
            </a:r>
            <a:endParaRPr lang="en-US" sz="1500" dirty="0"/>
          </a:p>
        </p:txBody>
      </p:sp>
      <p:sp>
        <p:nvSpPr>
          <p:cNvPr id="7" name="Scenario text 2"/>
          <p:cNvSpPr txBox="1"/>
          <p:nvPr/>
        </p:nvSpPr>
        <p:spPr>
          <a:xfrm>
            <a:off x="5669280" y="2578608"/>
            <a:ext cx="3017520" cy="685800"/>
          </a:xfrm>
          <a:prstGeom prst="rect">
            <a:avLst/>
          </a:prstGeom>
          <a:noFill/>
          <a:ln/>
        </p:spPr>
        <p:txBody>
          <a:bodyPr wrap="square" lIns="0" tIns="0" rIns="0" bIns="0" rtlCol="0" anchor="t"/>
          <a:lstStyle/>
          <a:p>
            <a:pPr indent="0" marL="0">
              <a:buNone/>
            </a:pPr>
            <a:r>
              <a:rPr lang="en-US" sz="1250" dirty="0">
                <a:solidFill>
                  <a:schemeClr val="tx1"/>
                </a:solidFill>
              </a:rPr>
              <a:t>₹10 more discount wins 10% more orders, and the loss gets worse: −1.3% margin.</a:t>
            </a:r>
            <a:endParaRPr lang="en-US" sz="1250" dirty="0"/>
          </a:p>
        </p:txBody>
      </p:sp>
      <p:sp>
        <p:nvSpPr>
          <p:cNvPr id="8" name="Scenario head 3"/>
          <p:cNvSpPr txBox="1"/>
          <p:nvPr/>
        </p:nvSpPr>
        <p:spPr>
          <a:xfrm>
            <a:off x="5669280" y="3346704"/>
            <a:ext cx="3017520" cy="292608"/>
          </a:xfrm>
          <a:prstGeom prst="rect">
            <a:avLst/>
          </a:prstGeom>
          <a:noFill/>
          <a:ln/>
        </p:spPr>
        <p:txBody>
          <a:bodyPr wrap="square" lIns="0" tIns="0" rIns="0" bIns="0" rtlCol="0" anchor="ctr"/>
          <a:lstStyle/>
          <a:p>
            <a:pPr indent="0" marL="0">
              <a:buNone/>
            </a:pPr>
            <a:r>
              <a:rPr lang="en-US" sz="1500" b="1" dirty="0">
                <a:solidFill>
                  <a:schemeClr val="accent2"/>
                </a:solidFill>
              </a:rPr>
              <a:t>Lever pack</a:t>
            </a:r>
            <a:endParaRPr lang="en-US" sz="1500" dirty="0"/>
          </a:p>
        </p:txBody>
      </p:sp>
      <p:sp>
        <p:nvSpPr>
          <p:cNvPr id="9" name="Scenario text 3"/>
          <p:cNvSpPr txBox="1"/>
          <p:nvPr/>
        </p:nvSpPr>
        <p:spPr>
          <a:xfrm>
            <a:off x="5669280" y="3657600"/>
            <a:ext cx="3017520" cy="685800"/>
          </a:xfrm>
          <a:prstGeom prst="rect">
            <a:avLst/>
          </a:prstGeom>
          <a:noFill/>
          <a:ln/>
        </p:spPr>
        <p:txBody>
          <a:bodyPr wrap="square" lIns="0" tIns="0" rIns="0" bIns="0" rtlCol="0" anchor="t"/>
          <a:lstStyle/>
          <a:p>
            <a:pPr indent="0" marL="0">
              <a:buNone/>
            </a:pPr>
            <a:r>
              <a:rPr lang="en-US" sz="1250" dirty="0">
                <a:solidFill>
                  <a:schemeClr val="tx1"/>
                </a:solidFill>
              </a:rPr>
              <a:t>+₹60 basket, +₹5 ads, +₹3 fee, −₹3 rider at today's volume: +2.2% margin.</a:t>
            </a:r>
            <a:endParaRPr lang="en-US" sz="125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To reach a 2% margin, volume alone is the slow road</a:t>
            </a:r>
            <a:endParaRPr lang="en-US" sz="2600" dirty="0"/>
          </a:p>
        </p:txBody>
      </p:sp>
      <p:sp>
        <p:nvSpPr>
          <p:cNvPr id="3" name="Compare card 1"/>
          <p:cNvSpPr/>
          <p:nvPr/>
        </p:nvSpPr>
        <p:spPr>
          <a:xfrm>
            <a:off x="457200" y="1188720"/>
            <a:ext cx="4023360" cy="2377440"/>
          </a:xfrm>
          <a:prstGeom prst="roundRect">
            <a:avLst>
              <a:gd name="adj" fmla="val 3077"/>
            </a:avLst>
          </a:prstGeom>
          <a:solidFill>
            <a:schemeClr val="bg2"/>
          </a:solidFill>
          <a:ln w="12700">
            <a:solidFill>
              <a:schemeClr val="bg2"/>
            </a:solidFill>
            <a:prstDash val="solid"/>
          </a:ln>
        </p:spPr>
      </p:sp>
      <p:sp>
        <p:nvSpPr>
          <p:cNvPr id="4" name="Compare number 1"/>
          <p:cNvSpPr txBox="1"/>
          <p:nvPr/>
        </p:nvSpPr>
        <p:spPr>
          <a:xfrm>
            <a:off x="777240" y="1371600"/>
            <a:ext cx="3474720" cy="914400"/>
          </a:xfrm>
          <a:prstGeom prst="rect">
            <a:avLst/>
          </a:prstGeom>
          <a:noFill/>
          <a:ln/>
        </p:spPr>
        <p:txBody>
          <a:bodyPr wrap="square" lIns="0" tIns="0" rIns="0" bIns="0" rtlCol="0" anchor="ctr"/>
          <a:lstStyle/>
          <a:p>
            <a:pPr indent="0" marL="0">
              <a:buNone/>
            </a:pPr>
            <a:r>
              <a:rPr lang="en-US" sz="5400" b="1" dirty="0">
                <a:solidFill>
                  <a:schemeClr val="accent1"/>
                </a:solidFill>
              </a:rPr>
              <a:t>2,483</a:t>
            </a:r>
            <a:endParaRPr lang="en-US" sz="5400" dirty="0"/>
          </a:p>
        </p:txBody>
      </p:sp>
      <p:sp>
        <p:nvSpPr>
          <p:cNvPr id="5" name="Compare text 1"/>
          <p:cNvSpPr txBox="1"/>
          <p:nvPr/>
        </p:nvSpPr>
        <p:spPr>
          <a:xfrm>
            <a:off x="777240" y="2331720"/>
            <a:ext cx="3474720" cy="640080"/>
          </a:xfrm>
          <a:prstGeom prst="rect">
            <a:avLst/>
          </a:prstGeom>
          <a:noFill/>
          <a:ln/>
        </p:spPr>
        <p:txBody>
          <a:bodyPr wrap="square" lIns="0" tIns="0" rIns="0" bIns="0" rtlCol="0" anchor="t"/>
          <a:lstStyle/>
          <a:p>
            <a:pPr indent="0" marL="0">
              <a:buNone/>
            </a:pPr>
            <a:r>
              <a:rPr lang="en-US" sz="1500" b="1" dirty="0">
                <a:solidFill>
                  <a:schemeClr val="tx1"/>
                </a:solidFill>
              </a:rPr>
              <a:t>orders a day needed to reach a 2% margin through volume alone</a:t>
            </a:r>
            <a:endParaRPr lang="en-US" sz="1500" dirty="0"/>
          </a:p>
        </p:txBody>
      </p:sp>
      <p:sp>
        <p:nvSpPr>
          <p:cNvPr id="6" name="Compare sub 1"/>
          <p:cNvSpPr txBox="1"/>
          <p:nvPr/>
        </p:nvSpPr>
        <p:spPr>
          <a:xfrm>
            <a:off x="777240" y="3017520"/>
            <a:ext cx="3474720" cy="365760"/>
          </a:xfrm>
          <a:prstGeom prst="rect">
            <a:avLst/>
          </a:prstGeom>
          <a:noFill/>
          <a:ln/>
        </p:spPr>
        <p:txBody>
          <a:bodyPr wrap="square" lIns="0" tIns="0" rIns="0" bIns="0" rtlCol="0" anchor="ctr"/>
          <a:lstStyle/>
          <a:p>
            <a:pPr indent="0" marL="0">
              <a:buNone/>
            </a:pPr>
            <a:r>
              <a:rPr lang="en-US" sz="1300" dirty="0">
                <a:solidFill>
                  <a:schemeClr val="accent4"/>
                </a:solidFill>
              </a:rPr>
              <a:t>+131% on today's ~1,075</a:t>
            </a:r>
            <a:endParaRPr lang="en-US" sz="1300" dirty="0"/>
          </a:p>
        </p:txBody>
      </p:sp>
      <p:sp>
        <p:nvSpPr>
          <p:cNvPr id="7" name="Compare card 2"/>
          <p:cNvSpPr/>
          <p:nvPr/>
        </p:nvSpPr>
        <p:spPr>
          <a:xfrm>
            <a:off x="4663440" y="1188720"/>
            <a:ext cx="4023360" cy="2377440"/>
          </a:xfrm>
          <a:prstGeom prst="roundRect">
            <a:avLst>
              <a:gd name="adj" fmla="val 3077"/>
            </a:avLst>
          </a:prstGeom>
          <a:solidFill>
            <a:schemeClr val="tx2"/>
          </a:solidFill>
          <a:ln w="12700">
            <a:solidFill>
              <a:schemeClr val="tx2"/>
            </a:solidFill>
            <a:prstDash val="solid"/>
          </a:ln>
        </p:spPr>
      </p:sp>
      <p:sp>
        <p:nvSpPr>
          <p:cNvPr id="8" name="Compare number 2"/>
          <p:cNvSpPr txBox="1"/>
          <p:nvPr/>
        </p:nvSpPr>
        <p:spPr>
          <a:xfrm>
            <a:off x="4983480" y="1371600"/>
            <a:ext cx="3474720" cy="914400"/>
          </a:xfrm>
          <a:prstGeom prst="rect">
            <a:avLst/>
          </a:prstGeom>
          <a:noFill/>
          <a:ln/>
        </p:spPr>
        <p:txBody>
          <a:bodyPr wrap="square" lIns="0" tIns="0" rIns="0" bIns="0" rtlCol="0" anchor="ctr"/>
          <a:lstStyle/>
          <a:p>
            <a:pPr indent="0" marL="0">
              <a:buNone/>
            </a:pPr>
            <a:r>
              <a:rPr lang="en-US" sz="5400" b="1" dirty="0">
                <a:solidFill>
                  <a:schemeClr val="accent5"/>
                </a:solidFill>
              </a:rPr>
              <a:t>2.2%</a:t>
            </a:r>
            <a:endParaRPr lang="en-US" sz="5400" dirty="0"/>
          </a:p>
        </p:txBody>
      </p:sp>
      <p:sp>
        <p:nvSpPr>
          <p:cNvPr id="9" name="Compare text 2"/>
          <p:cNvSpPr txBox="1"/>
          <p:nvPr/>
        </p:nvSpPr>
        <p:spPr>
          <a:xfrm>
            <a:off x="4983480" y="2331720"/>
            <a:ext cx="3474720" cy="640080"/>
          </a:xfrm>
          <a:prstGeom prst="rect">
            <a:avLst/>
          </a:prstGeom>
          <a:noFill/>
          <a:ln/>
        </p:spPr>
        <p:txBody>
          <a:bodyPr wrap="square" lIns="0" tIns="0" rIns="0" bIns="0" rtlCol="0" anchor="t"/>
          <a:lstStyle/>
          <a:p>
            <a:pPr indent="0" marL="0">
              <a:buNone/>
            </a:pPr>
            <a:r>
              <a:rPr lang="en-US" sz="1500" b="1" dirty="0">
                <a:solidFill>
                  <a:schemeClr val="bg1"/>
                </a:solidFill>
              </a:rPr>
              <a:t>margin from the lever pack, at today's volume</a:t>
            </a:r>
            <a:endParaRPr lang="en-US" sz="1500" dirty="0"/>
          </a:p>
        </p:txBody>
      </p:sp>
      <p:sp>
        <p:nvSpPr>
          <p:cNvPr id="10" name="Compare sub 2"/>
          <p:cNvSpPr txBox="1"/>
          <p:nvPr/>
        </p:nvSpPr>
        <p:spPr>
          <a:xfrm>
            <a:off x="4983480" y="3017520"/>
            <a:ext cx="3474720" cy="365760"/>
          </a:xfrm>
          <a:prstGeom prst="rect">
            <a:avLst/>
          </a:prstGeom>
          <a:noFill/>
          <a:ln/>
        </p:spPr>
        <p:txBody>
          <a:bodyPr wrap="square" lIns="0" tIns="0" rIns="0" bIns="0" rtlCol="0" anchor="ctr"/>
          <a:lstStyle/>
          <a:p>
            <a:pPr indent="0" marL="0">
              <a:buNone/>
            </a:pPr>
            <a:r>
              <a:rPr lang="en-US" sz="1300" dirty="0">
                <a:solidFill>
                  <a:schemeClr val="accent5"/>
                </a:solidFill>
              </a:rPr>
              <a:t>no extra orders needed</a:t>
            </a:r>
            <a:endParaRPr lang="en-US" sz="1300" dirty="0"/>
          </a:p>
        </p:txBody>
      </p:sp>
      <p:sp>
        <p:nvSpPr>
          <p:cNvPr id="11" name="Volume note"/>
          <p:cNvSpPr txBox="1"/>
          <p:nvPr/>
        </p:nvSpPr>
        <p:spPr>
          <a:xfrm>
            <a:off x="457200" y="3794760"/>
            <a:ext cx="8229600" cy="640080"/>
          </a:xfrm>
          <a:prstGeom prst="rect">
            <a:avLst/>
          </a:prstGeom>
          <a:noFill/>
          <a:ln/>
        </p:spPr>
        <p:txBody>
          <a:bodyPr wrap="square" lIns="0" tIns="0" rIns="0" bIns="0" rtlCol="0" anchor="t"/>
          <a:lstStyle/>
          <a:p>
            <a:pPr indent="0" marL="0">
              <a:buNone/>
            </a:pPr>
            <a:r>
              <a:rPr lang="en-US" sz="1400" i="1" dirty="0">
                <a:solidFill>
                  <a:schemeClr val="accent4"/>
                </a:solidFill>
              </a:rPr>
              <a:t>Volume helps, but it has to more than double. Price, basket and cost moves get there faster and stack with any volume growth.</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48640"/>
          </a:xfrm>
          <a:prstGeom prst="rect">
            <a:avLst/>
          </a:prstGeom>
          <a:noFill/>
          <a:ln/>
        </p:spPr>
        <p:txBody>
          <a:bodyPr wrap="square" lIns="0" tIns="0" rIns="0" bIns="0" rtlCol="0" anchor="t"/>
          <a:lstStyle/>
          <a:p>
            <a:pPr algn="l" indent="0" marL="0">
              <a:buNone/>
            </a:pPr>
            <a:r>
              <a:rPr lang="en-US" sz="2600" b="1" dirty="0">
                <a:solidFill>
                  <a:schemeClr val="tx1"/>
                </a:solidFill>
              </a:rPr>
              <a:t>Next steps</a:t>
            </a:r>
            <a:endParaRPr lang="en-US" sz="2600" dirty="0"/>
          </a:p>
        </p:txBody>
      </p:sp>
      <p:sp>
        <p:nvSpPr>
          <p:cNvPr id="3" name="Next 1 disc"/>
          <p:cNvSpPr/>
          <p:nvPr/>
        </p:nvSpPr>
        <p:spPr>
          <a:xfrm>
            <a:off x="548640" y="1188720"/>
            <a:ext cx="548640" cy="548640"/>
          </a:xfrm>
          <a:prstGeom prst="ellipse">
            <a:avLst/>
          </a:prstGeom>
          <a:solidFill>
            <a:schemeClr val="accent2"/>
          </a:solidFill>
          <a:ln w="12700">
            <a:solidFill>
              <a:schemeClr val="accent2"/>
            </a:solidFill>
            <a:prstDash val="solid"/>
          </a:ln>
        </p:spPr>
      </p:sp>
      <p:pic>
        <p:nvPicPr>
          <p:cNvPr id="4" name="Next 1 icon" descr="Next 1">    </p:cNvPr>
          <p:cNvPicPr>
            <a:picLocks noChangeAspect="1"/>
          </p:cNvPicPr>
          <p:nvPr/>
        </p:nvPicPr>
        <p:blipFill>
          <a:blip r:embed="rId1"/>
          <a:stretch>
            <a:fillRect/>
          </a:stretch>
        </p:blipFill>
        <p:spPr>
          <a:xfrm>
            <a:off x="680314" y="1320394"/>
            <a:ext cx="285293" cy="285293"/>
          </a:xfrm>
          <a:prstGeom prst="rect">
            <a:avLst/>
          </a:prstGeom>
        </p:spPr>
      </p:pic>
      <p:sp>
        <p:nvSpPr>
          <p:cNvPr id="5" name="Next text 1"/>
          <p:cNvSpPr txBox="1"/>
          <p:nvPr/>
        </p:nvSpPr>
        <p:spPr>
          <a:xfrm>
            <a:off x="1325880" y="1170432"/>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1  </a:t>
            </a:r>
            <a:pPr indent="0" marL="0">
              <a:buNone/>
            </a:pPr>
            <a:r>
              <a:rPr lang="en-US" sz="1500" dirty="0">
                <a:solidFill>
                  <a:schemeClr val="tx1"/>
                </a:solidFill>
              </a:rPr>
              <a:t>Grow the basket first: bundles and minimum-order nudges. +10% is worth ~₹85 crore a quarter.</a:t>
            </a:r>
            <a:endParaRPr lang="en-US" sz="1500" dirty="0"/>
          </a:p>
        </p:txBody>
      </p:sp>
      <p:sp>
        <p:nvSpPr>
          <p:cNvPr id="6" name="Next 2 disc"/>
          <p:cNvSpPr/>
          <p:nvPr/>
        </p:nvSpPr>
        <p:spPr>
          <a:xfrm>
            <a:off x="548640" y="1993392"/>
            <a:ext cx="548640" cy="548640"/>
          </a:xfrm>
          <a:prstGeom prst="ellipse">
            <a:avLst/>
          </a:prstGeom>
          <a:solidFill>
            <a:schemeClr val="tx2"/>
          </a:solidFill>
          <a:ln w="12700">
            <a:solidFill>
              <a:schemeClr val="tx2"/>
            </a:solidFill>
            <a:prstDash val="solid"/>
          </a:ln>
        </p:spPr>
      </p:sp>
      <p:pic>
        <p:nvPicPr>
          <p:cNvPr id="7" name="Next 2 icon" descr="Next 2">    </p:cNvPr>
          <p:cNvPicPr>
            <a:picLocks noChangeAspect="1"/>
          </p:cNvPicPr>
          <p:nvPr/>
        </p:nvPicPr>
        <p:blipFill>
          <a:blip r:embed="rId2"/>
          <a:stretch>
            <a:fillRect/>
          </a:stretch>
        </p:blipFill>
        <p:spPr>
          <a:xfrm>
            <a:off x="680314" y="2125066"/>
            <a:ext cx="285293" cy="285293"/>
          </a:xfrm>
          <a:prstGeom prst="rect">
            <a:avLst/>
          </a:prstGeom>
        </p:spPr>
      </p:pic>
      <p:sp>
        <p:nvSpPr>
          <p:cNvPr id="8" name="Next text 2"/>
          <p:cNvSpPr txBox="1"/>
          <p:nvPr/>
        </p:nvSpPr>
        <p:spPr>
          <a:xfrm>
            <a:off x="1325880" y="1975104"/>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2  </a:t>
            </a:r>
            <a:pPr indent="0" marL="0">
              <a:buNone/>
            </a:pPr>
            <a:r>
              <a:rPr lang="en-US" sz="1500" dirty="0">
                <a:solidFill>
                  <a:schemeClr val="tx1"/>
                </a:solidFill>
              </a:rPr>
              <a:t>Batch deliveries to cut rider cost: ₹4.5 less per order adds ~₹1.45 lakh per store per month.</a:t>
            </a:r>
            <a:endParaRPr lang="en-US" sz="1500" dirty="0"/>
          </a:p>
        </p:txBody>
      </p:sp>
      <p:sp>
        <p:nvSpPr>
          <p:cNvPr id="9" name="Next 3 disc"/>
          <p:cNvSpPr/>
          <p:nvPr/>
        </p:nvSpPr>
        <p:spPr>
          <a:xfrm>
            <a:off x="548640" y="2798064"/>
            <a:ext cx="548640" cy="548640"/>
          </a:xfrm>
          <a:prstGeom prst="ellipse">
            <a:avLst/>
          </a:prstGeom>
          <a:solidFill>
            <a:schemeClr val="tx2"/>
          </a:solidFill>
          <a:ln w="12700">
            <a:solidFill>
              <a:schemeClr val="tx2"/>
            </a:solidFill>
            <a:prstDash val="solid"/>
          </a:ln>
        </p:spPr>
      </p:sp>
      <p:pic>
        <p:nvPicPr>
          <p:cNvPr id="10" name="Next 3 icon" descr="Next 3">    </p:cNvPr>
          <p:cNvPicPr>
            <a:picLocks noChangeAspect="1"/>
          </p:cNvPicPr>
          <p:nvPr/>
        </p:nvPicPr>
        <p:blipFill>
          <a:blip r:embed="rId3"/>
          <a:stretch>
            <a:fillRect/>
          </a:stretch>
        </p:blipFill>
        <p:spPr>
          <a:xfrm>
            <a:off x="680314" y="2929738"/>
            <a:ext cx="285293" cy="285293"/>
          </a:xfrm>
          <a:prstGeom prst="rect">
            <a:avLst/>
          </a:prstGeom>
        </p:spPr>
      </p:pic>
      <p:sp>
        <p:nvSpPr>
          <p:cNvPr id="11" name="Next text 3"/>
          <p:cNvSpPr txBox="1"/>
          <p:nvPr/>
        </p:nvSpPr>
        <p:spPr>
          <a:xfrm>
            <a:off x="1325880" y="2779776"/>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3  </a:t>
            </a:r>
            <a:pPr indent="0" marL="0">
              <a:buNone/>
            </a:pPr>
            <a:r>
              <a:rPr lang="en-US" sz="1500" dirty="0">
                <a:solidFill>
                  <a:schemeClr val="tx1"/>
                </a:solidFill>
              </a:rPr>
              <a:t>Do not buy volume with discounts: ₹10 more off for 10% more orders loses ₹2.7 lakh more per store a month.</a:t>
            </a:r>
            <a:endParaRPr lang="en-US" sz="1500" dirty="0"/>
          </a:p>
        </p:txBody>
      </p:sp>
      <p:sp>
        <p:nvSpPr>
          <p:cNvPr id="12" name="Next 4 disc"/>
          <p:cNvSpPr/>
          <p:nvPr/>
        </p:nvSpPr>
        <p:spPr>
          <a:xfrm>
            <a:off x="548640" y="3602736"/>
            <a:ext cx="548640" cy="548640"/>
          </a:xfrm>
          <a:prstGeom prst="ellipse">
            <a:avLst/>
          </a:prstGeom>
          <a:solidFill>
            <a:schemeClr val="tx2"/>
          </a:solidFill>
          <a:ln w="12700">
            <a:solidFill>
              <a:schemeClr val="tx2"/>
            </a:solidFill>
            <a:prstDash val="solid"/>
          </a:ln>
        </p:spPr>
      </p:sp>
      <p:pic>
        <p:nvPicPr>
          <p:cNvPr id="13" name="Next 4 icon" descr="Next 4">    </p:cNvPr>
          <p:cNvPicPr>
            <a:picLocks noChangeAspect="1"/>
          </p:cNvPicPr>
          <p:nvPr/>
        </p:nvPicPr>
        <p:blipFill>
          <a:blip r:embed="rId4"/>
          <a:stretch>
            <a:fillRect/>
          </a:stretch>
        </p:blipFill>
        <p:spPr>
          <a:xfrm>
            <a:off x="680314" y="3734410"/>
            <a:ext cx="285293" cy="285293"/>
          </a:xfrm>
          <a:prstGeom prst="rect">
            <a:avLst/>
          </a:prstGeom>
        </p:spPr>
      </p:pic>
      <p:sp>
        <p:nvSpPr>
          <p:cNvPr id="14" name="Next text 4"/>
          <p:cNvSpPr txBox="1"/>
          <p:nvPr/>
        </p:nvSpPr>
        <p:spPr>
          <a:xfrm>
            <a:off x="1325880" y="3584448"/>
            <a:ext cx="7315200" cy="585216"/>
          </a:xfrm>
          <a:prstGeom prst="rect">
            <a:avLst/>
          </a:prstGeom>
          <a:noFill/>
          <a:ln/>
        </p:spPr>
        <p:txBody>
          <a:bodyPr wrap="square" lIns="0" tIns="0" rIns="0" bIns="0" rtlCol="0" anchor="ctr"/>
          <a:lstStyle/>
          <a:p>
            <a:pPr indent="0" marL="0">
              <a:buNone/>
            </a:pPr>
            <a:r>
              <a:rPr lang="en-US" sz="1500" b="1" dirty="0">
                <a:solidFill>
                  <a:schemeClr val="accent2"/>
                </a:solidFill>
              </a:rPr>
              <a:t>4  </a:t>
            </a:r>
            <a:pPr indent="0" marL="0">
              <a:buNone/>
            </a:pPr>
            <a:r>
              <a:rPr lang="en-US" sz="1500" dirty="0">
                <a:solidFill>
                  <a:schemeClr val="tx1"/>
                </a:solidFill>
              </a:rPr>
              <a:t>Replace my cost-split assumptions with store-level data before acting on any number.</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7863840" cy="1463040"/>
          </a:xfrm>
          <a:prstGeom prst="rect">
            <a:avLst/>
          </a:prstGeom>
          <a:noFill/>
          <a:ln/>
        </p:spPr>
        <p:txBody>
          <a:bodyPr wrap="square" lIns="0" tIns="0" rIns="0" bIns="0" rtlCol="0" anchor="b"/>
          <a:lstStyle/>
          <a:p>
            <a:pPr algn="l" indent="0" marL="0">
              <a:buNone/>
            </a:pPr>
            <a:r>
              <a:rPr lang="en-US" sz="3800" b="1" dirty="0">
                <a:solidFill>
                  <a:schemeClr val="bg1"/>
                </a:solidFill>
              </a:rPr>
              <a:t>Happy to walk you through the model</a:t>
            </a:r>
            <a:endParaRPr lang="en-US" sz="3800" dirty="0"/>
          </a:p>
        </p:txBody>
      </p:sp>
      <p:sp>
        <p:nvSpPr>
          <p:cNvPr id="3" name="Text 0"/>
          <p:cNvSpPr/>
          <p:nvPr>
            <p:ph idx="101" type="body" hasCustomPrompt="1"/>
          </p:nvPr>
        </p:nvSpPr>
        <p:spPr>
          <a:xfrm>
            <a:off x="548640" y="2880360"/>
            <a:ext cx="7863840" cy="822960"/>
          </a:xfrm>
          <a:prstGeom prst="rect">
            <a:avLst/>
          </a:prstGeom>
          <a:noFill/>
          <a:ln/>
        </p:spPr>
        <p:txBody>
          <a:bodyPr wrap="square" lIns="0" tIns="0" rIns="0" bIns="0" rtlCol="0" anchor="t"/>
          <a:lstStyle/>
          <a:p>
            <a:pPr algn="l" indent="0" marL="0">
              <a:buNone/>
            </a:pPr>
            <a:r>
              <a:rPr lang="en-US" sz="1800" dirty="0">
                <a:solidFill>
                  <a:schemeClr val="accent5"/>
                </a:solidFill>
              </a:rPr>
              <a:t>Every number is a live formula, and the Checks sheet reads ALL PASS.</a:t>
            </a:r>
            <a:endParaRPr lang="en-US" sz="1800" dirty="0"/>
          </a:p>
        </p:txBody>
      </p:sp>
      <p:pic>
        <p:nvPicPr>
          <p:cNvPr id="4" name="Link icon 1" descr="github">    </p:cNvPr>
          <p:cNvPicPr>
            <a:picLocks noChangeAspect="1"/>
          </p:cNvPicPr>
          <p:nvPr/>
        </p:nvPicPr>
        <p:blipFill>
          <a:blip r:embed="rId1"/>
          <a:stretch>
            <a:fillRect/>
          </a:stretch>
        </p:blipFill>
        <p:spPr>
          <a:xfrm>
            <a:off x="548640" y="3739896"/>
            <a:ext cx="237744" cy="237744"/>
          </a:xfrm>
          <a:prstGeom prst="rect">
            <a:avLst/>
          </a:prstGeom>
        </p:spPr>
      </p:pic>
      <p:sp>
        <p:nvSpPr>
          <p:cNvPr id="5" name="Link 1">
            <a:hlinkClick r:id="rId2" tooltip=""/>
          </p:cNvPr>
          <p:cNvSpPr txBox="1"/>
          <p:nvPr/>
        </p:nvSpPr>
        <p:spPr>
          <a:xfrm>
            <a:off x="914400" y="3703320"/>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github.com/parthdhawan921-ops/dark-store-breakeven-model</a:t>
            </a:r>
            <a:endParaRPr lang="en-US" sz="1400" dirty="0"/>
          </a:p>
        </p:txBody>
      </p:sp>
      <p:pic>
        <p:nvPicPr>
          <p:cNvPr id="6" name="Link icon 2" descr="link">    </p:cNvPr>
          <p:cNvPicPr>
            <a:picLocks noChangeAspect="1"/>
          </p:cNvPicPr>
          <p:nvPr/>
        </p:nvPicPr>
        <p:blipFill>
          <a:blip r:embed="rId3"/>
          <a:stretch>
            <a:fillRect/>
          </a:stretch>
        </p:blipFill>
        <p:spPr>
          <a:xfrm>
            <a:off x="548640" y="4123944"/>
            <a:ext cx="237744" cy="237744"/>
          </a:xfrm>
          <a:prstGeom prst="rect">
            <a:avLst/>
          </a:prstGeom>
        </p:spPr>
      </p:pic>
      <p:sp>
        <p:nvSpPr>
          <p:cNvPr id="7" name="Link 2">
            <a:hlinkClick r:id="rId4" tooltip=""/>
          </p:cNvPr>
          <p:cNvSpPr txBox="1"/>
          <p:nvPr/>
        </p:nvSpPr>
        <p:spPr>
          <a:xfrm>
            <a:off x="914400" y="4087368"/>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parthdhawan921-ops.github.io/Parth_Personal/#darkstore</a:t>
            </a:r>
            <a:endParaRPr lang="en-US" sz="1400" dirty="0"/>
          </a:p>
        </p:txBody>
      </p:sp>
      <p:pic>
        <p:nvPicPr>
          <p:cNvPr id="8" name="Link icon 3" descr="mail">    </p:cNvPr>
          <p:cNvPicPr>
            <a:picLocks noChangeAspect="1"/>
          </p:cNvPicPr>
          <p:nvPr/>
        </p:nvPicPr>
        <p:blipFill>
          <a:blip r:embed="rId5"/>
          <a:stretch>
            <a:fillRect/>
          </a:stretch>
        </p:blipFill>
        <p:spPr>
          <a:xfrm>
            <a:off x="548640" y="4507992"/>
            <a:ext cx="237744" cy="237744"/>
          </a:xfrm>
          <a:prstGeom prst="rect">
            <a:avLst/>
          </a:prstGeom>
        </p:spPr>
      </p:pic>
      <p:sp>
        <p:nvSpPr>
          <p:cNvPr id="9" name="Link 3">
            <a:hlinkClick r:id="rId6" tooltip=""/>
          </p:cNvPr>
          <p:cNvSpPr txBox="1"/>
          <p:nvPr/>
        </p:nvSpPr>
        <p:spPr>
          <a:xfrm>
            <a:off x="914400" y="4471416"/>
            <a:ext cx="7498080" cy="310896"/>
          </a:xfrm>
          <a:prstGeom prst="rect">
            <a:avLst/>
          </a:prstGeom>
          <a:noFill/>
          <a:ln/>
        </p:spPr>
        <p:txBody>
          <a:bodyPr wrap="square" lIns="0" tIns="0" rIns="0" bIns="0" rtlCol="0" anchor="ctr"/>
          <a:lstStyle/>
          <a:p>
            <a:pPr indent="0" marL="0">
              <a:buNone/>
            </a:pPr>
            <a:r>
              <a:rPr lang="en-US" sz="1400" u="sng" dirty="0">
                <a:solidFill>
                  <a:schemeClr val="bg1"/>
                </a:solidFill>
                <a:hlinkClick r:id="rId6" invalidUrl="" action="" tgtFrame="" tooltip="" history="1" highlightClick="0" endSnd="0">
                  <a:extLst>
                    <a:ext uri="{A12FA001-AC4F-418D-AE19-62706E023703}">
                      <ahyp:hlinkClr xmlns:ahyp="http://schemas.microsoft.com/office/drawing/2018/hyperlinkcolor" val="tx"/>
                    </a:ext>
                  </a:extLst>
                </a:hlinkClick>
              </a:rPr>
              <a:t>parthdhawan921@gmail.com  ·  +91 70823 35959</a:t>
            </a:r>
            <a:endParaRPr lang="en-US" sz="1400" dirty="0"/>
          </a:p>
        </p:txBody>
      </p:sp>
    </p:spTree>
  </p:cSld>
  <p:clrMapOvr>
    <a:masterClrMapping/>
  </p:clrMapOvr>
</p:sld>
</file>

<file path=ppt/theme/theme1.xml><?xml version="1.0" encoding="utf-8"?>
<a:theme xmlns:a="http://schemas.openxmlformats.org/drawingml/2006/main" name="Ledger Green">
  <a:themeElements>
    <a:clrScheme name="Ledger Green">
      <a:dk1>
        <a:srgbClr val="1C2723"/>
      </a:dk1>
      <a:lt1>
        <a:srgbClr val="FFFFFF"/>
      </a:lt1>
      <a:dk2>
        <a:srgbClr val="14342B"/>
      </a:dk2>
      <a:lt2>
        <a:srgbClr val="F1F5F2"/>
      </a:lt2>
      <a:accent1>
        <a:srgbClr val="C2412D"/>
      </a:accent1>
      <a:accent2>
        <a:srgbClr val="1E8A5A"/>
      </a:accent2>
      <a:accent3>
        <a:srgbClr val="E3A21A"/>
      </a:accent3>
      <a:accent4>
        <a:srgbClr val="5F6B66"/>
      </a:accent4>
      <a:accent5>
        <a:srgbClr val="A8CBB7"/>
      </a:accent5>
      <a:accent6>
        <a:srgbClr val="2F5D8A"/>
      </a:accent6>
      <a:hlink>
        <a:srgbClr val="1E8A5A"/>
      </a:hlink>
      <a:folHlink>
        <a:srgbClr val="5F6B66"/>
      </a:folHlink>
    </a:clrScheme>
    <a:fontScheme name="Ledger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Swiggy Instamart dark-store break-even model</dc:title>
  <dc:subject>PptxGenJS Presentation</dc:subject>
  <dc:creator>Parth Dhawan</dc:creator>
  <cp:lastModifiedBy>Parth Dhawan</cp:lastModifiedBy>
  <cp:revision>1</cp:revision>
  <dcterms:created xsi:type="dcterms:W3CDTF">2026-10-25T08:48:36Z</dcterms:created>
  <dcterms:modified xsi:type="dcterms:W3CDTF">2026-10-25T08:48:36Z</dcterms:modified>
</cp:coreProperties>
</file>